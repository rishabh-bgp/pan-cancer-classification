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73" r:id="rId19"/>
    <p:sldId id="261" r:id="rId7"/>
    <p:sldId id="267" r:id="rId13"/>
    <p:sldId id="258" r:id="rId4"/>
    <p:sldId id="276" r:id="rId27"/>
    <p:sldId id="268" r:id="rId14"/>
    <p:sldId id="270" r:id="rId16"/>
    <p:sldId id="263" r:id="rId9"/>
    <p:sldId id="264" r:id="rId10"/>
    <p:sldId id="274" r:id="rId20"/>
    <p:sldId id="279" r:id="rId30"/>
    <p:sldId id="277" r:id="rId28"/>
    <p:sldId id="262" r:id="rId8"/>
    <p:sldId id="278" r:id="rId29"/>
    <p:sldId id="275" r:id="rId21"/>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5.xml"/><Relationship Id="rId7" Type="http://schemas.openxmlformats.org/officeDocument/2006/relationships/slide" Target="slides/slide3.xml"/><Relationship Id="rId8" Type="http://schemas.openxmlformats.org/officeDocument/2006/relationships/slide" Target="slides/slide14.xml"/><Relationship Id="rId9" Type="http://schemas.openxmlformats.org/officeDocument/2006/relationships/slide" Target="slides/slide6.xml"/><Relationship Id="rId10" Type="http://schemas.openxmlformats.org/officeDocument/2006/relationships/slide" Target="slides/slide10.xml"/><Relationship Id="rId13" Type="http://schemas.openxmlformats.org/officeDocument/2006/relationships/slide" Target="slides/slide4.xml"/><Relationship Id="rId14" Type="http://schemas.openxmlformats.org/officeDocument/2006/relationships/slide" Target="slides/slide12.xml"/><Relationship Id="rId16" Type="http://schemas.openxmlformats.org/officeDocument/2006/relationships/slide" Target="slides/slide9.xml"/><Relationship Id="rId19" Type="http://schemas.openxmlformats.org/officeDocument/2006/relationships/slide" Target="slides/slide2.xml"/><Relationship Id="rId20" Type="http://schemas.openxmlformats.org/officeDocument/2006/relationships/slide" Target="slides/slide7.xml"/><Relationship Id="rId21" Type="http://schemas.openxmlformats.org/officeDocument/2006/relationships/slide" Target="slides/slide16.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8.xml"/><Relationship Id="rId28" Type="http://schemas.openxmlformats.org/officeDocument/2006/relationships/slide" Target="slides/slide13.xml"/><Relationship Id="rId29" Type="http://schemas.openxmlformats.org/officeDocument/2006/relationships/slide" Target="slides/slide15.xml"/><Relationship Id="rId30"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I am Rishabh Aryan from IIIT Bhagalpur. This talk re-examines a popular benchmark for tumour-type classification from RNA-Seq data. Instead of proposing yet another model, I ask what the near-perfect accuracies reported on it can and cannot tell us: how much leakage matters here, whether any model is really better, and what the dataset can still say about reliability and data needs.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ask three questions. First, how much does selecting genes on the full data actually change accuracy on this dataset? Second, do any of seven standard classifiers really differ, and which ones can be shown to be equivalent? Third, applied here for the first time as far as I know: are the predictions reliable, meaning calibrated and able to abstain when unsure, and how much data does the task really need? Common practice selects genes on all samples and reports a single split; here selection happens inside each training fold, the leaky variant is run as a deliberate comparison, and all twenty-one pairs of classifiers are tested with Holm adjustment, equivalence tests and a Bayesian test.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Knowing where a tumour comes from guides treatment, and it is hardest for cancers of unknown primary site. Gene expression carries a strong cell-of-origin signal, as the TCGA PanCancer Atlas showed. The UCI subset of TCGA is a popular benchmark, and accuracies near one hundred per cent are routinely reported, often with genes selected on the full dataset and without any statistical test. That is a known source of bias in small studies, but nobody has measured how large it is on this dataset. The figure shows that even two principal components separate the five tumour types quite well; this is a visual only, not a classifier.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conclude: on this dataset at full size, selecting genes on all the data barely changes accuracy; the bias only shows with shuffled labels or small samples. All seven models reach 98.9 to 99.8 per cent macro-F1, none is significantly better, and 10 of the fifteen pairs without naive Bayes are demonstrably equivalent within one point. The reliability analysis shows small and probably real miscalibration, and 99 per cent conformal sets let the model abstain on under one per cent of samples while cutting the error among accepted predictions to 0.18 per cent, much as a probability threshold would; ten tumours per class are enough, which explains why leakage cannot show. So a near-perfect score here proves neither that a pipeline is clean nor that a model is better; use permutation and equivalence tests. Next steps are mapping gene indices to symbols, external validation, the full 33-type problem, and metastatic samples.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models see the same fifty folds, so I compared every pair, twenty-one in total, with the corrected t-test and Holm adjustment. No pair differs significantly; the smallest adjusted p-value is 0.66. But no significant difference is not the same as no difference, so I also ran equivalence tests: 10 of the fifteen pairs that do not involve naive Bayes are equivalent within plus or minus one percentage point. Naive Bayes is probably slightly worse, but not significantly. The design can only detect differences of about 0.5 to 1.4 points, which is several samples per repeat. So the supported claim is no winner, with equivalence shown for most pairs; the remaining pairs are inconclusive, not different.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Softmax made 42 errors in 8,010 predictions, all from 5 samples; the three hard LUAD tumours have atypical expression profiles. Does the model know when it may be wrong? Its expected calibration error is 0.47 per cent, compared with about 0.14 per cent for a perfectly calibrated model with the same confidences, so the miscalibration is small and probably real, and it sits in the few low-confidence predictions. Split-conformal sets, calibrated inside each training fold, are valid on average, but at 90 and 95 per cent they reach coverage by returning empty sets, and fold coverage varies widely because only about 160 tumours are used for calibration. At 99 per cent, 99.4 per cent of samples get one label, and abstaining on the rest lowers the error among accepted predictions from 0.51% [0.42, 0.60] to 0.18% [0.10, 0.25]. A plain probability threshold does about as well, at 0.26 per cent, so what conformal adds is a threshold chosen with a coverage guarantee, not better error selection. The hard LUAD samples are flagged in 18 of their 30 appearances, about half. Class-conditional, Mondrian sets would need at least 99 calibration tumours in every class to work at 99 per cent; no class has that many here.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 are the UCI 'gene expression cancer RNA-Seq' set: 801 TCGA tumours of five types, with 20,531 expression values each. The classes are unbalanced; colon adenocarcinoma is the smallest with 78 samples. The values are already on a log scale, 267 genes are constant, and nothing is missing. Importantly, the genes are named gene_0 to gene_20530; the repository says these are dummy names, so no gene symbols are available, and I do not interpret individual genes biologically. There are no clinical or batch variables.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central finding. I ran the same pipeline twice: once with gene selection and scaling fitted on all samples before cross-validation, the leaky way, and once inside each fold. With real labels and all 801 samples, the two are practically identical: 99.50 versus 99.48 per cent with one hundred genes. Only with ten genes is the leaky estimate visibly higher, and even that is not significant. With shuffled labels the leaky pipeline does score above the in-fold one, and in small samples of sixty tumours it reaches about 68 per cent on pure noise, which is the classic Ambroise and McLachlan effect. So on this dataset leakage hides behind the ceiling: published accuracies are probably not much inflated, but an accuracy near one hundred per cent cannot show that a pipeline is clean. A permutation test can.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seven classifiers reach between 98.9 and 99.8 per cent macro-F1, against 10.9 per cent for the majority baseline. Linear SVM is highest at 99.81 per cent, about 1.5 errors out of 801 per repeat; softmax regression reaches 99.48 per cent with about 4.2 errors. Macro ROC-AUC is at least 0.9944 for every model, so it does not discriminate between them. One error costs about 0.6 point in a fold of 160, so the differences are a few samples.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talk has six parts: the motivation and dataset with three research questions; the leakage-free methodology; the leakage audit, performance, all pairwise comparisons, and the errors with a reliability analysis using conformal prediction; then how much data the task needs, how leakage grows as data shrink, and selection stability; the limitations; and the takeaways.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much data does this task need? Very little. With three training tumours per class, softmax reaches 98.1 per cent macro-F1 on a held-out fold, and with ten per class 99.4 per cent, plus or minus 0.2; naive Bayes needs far more. The right panel links this to the leakage audit: on shuffled labels, leaky selection inflates accuracy by 65 ± 5 points at thirty samples but 14 ± 2 at three hundred and ninety, while with real labels the gap stays near zero, and with ten genes it even turns slightly negative. This is the behaviour Vabalas and colleagues described in simulations, and learning curves for expression data go back to Mukherjee and colleagues; what is new here is only the numbers for this dataset. When ten tumours per class reach the ceiling, selection bias has no room to show.</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for your attention.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model is wrapped in a pipeline that is refitted on each training fold: constant genes are dropped, the one hundred genes with the highest ANOVA F-statistic are kept, and the data are standardised with training statistics only. I compare softmax regression, ridge, a linear SVM, Gaussian naive Bayes, a random forest, LightGBM and a small MLP, plus a majority-class baseline, all with fixed default settings. Evaluation is ten-times repeated stratified five-fold cross-validation, fifty folds, identical for every model. Confidence intervals and paired tests use the Nadeau–Bengio correction for overlapping training sets. All twenty-one pairs are tested with Holm adjustment, plus two one-sided equivalence tests with a one-point margin and a Bayesian correlated t-test.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remains valid is the size of the leakage effect, the equivalence of the models and the selection stability, on this dataset, within TCGA, for five well-separated tissues. The dataset is small and single-source with no clinical, batch or gene-symbol information, and even simple global statistics of each profile predict the cancer type about half the time, so classes differ in overall profile properties too. I did not test an external cohort or metastatic samples. The statistical tests are approximate because fold scores are bounded at one hundred per cent, and the audit covers gene selection and scaling, not oversampling or PCA.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works cited on the slides; the paper has the full list.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Across the fifty training folds, 133 genes entered the top one hundred at least once, and 76 were chosen every time. The average overlap between two folds' selections is a Jaccard index of 0.87, and the chance-corrected Nogueira stability is 0.93. A recent study by Sirohi on a larger TCGA extract found a 75-gene random-forest panel much less stable, Jaccard 0.32; the methods differ, so the lesson is that stability depends on the pipeline and should be measured. The genes here have dummy names, so I make no biological claims about them.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3.xml.rels><?xml version='1.0' encoding='UTF-8' standalone='yes'?>
<Relationships xmlns="http://schemas.openxmlformats.org/package/2006/relationships"><Relationship Id="rIdFig1" Type="http://schemas.openxmlformats.org/officeDocument/2006/relationships/image" Target="../media/fig_examples_b.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6.xml"/><Relationship Id="rId7" Type="http://schemas.openxmlformats.org/officeDocument/2006/relationships/image" Target="../media/image1.png"/></Relationships>
</file>

<file path=ppt/slides/_rels/slide4.xml.rels><?xml version='1.0' encoding='UTF-8' standalone='yes'?>
<Relationships xmlns="http://schemas.openxmlformats.org/package/2006/relationships"><Relationship Id="rIdFig2" Type="http://schemas.openxmlformats.org/officeDocument/2006/relationships/image" Target="../media/fig_examples_a2.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 Id="rId7"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Fig3" Type="http://schemas.openxmlformats.org/officeDocument/2006/relationships/image" Target="../media/fig_provenance.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8.xml"/><Relationship Id="rId7" Type="http://schemas.openxmlformats.org/officeDocument/2006/relationships/image" Target="../media/image5.png"/></Relationships>
</file>

<file path=ppt/slides/_rels/slide7.xml.rels><?xml version='1.0' encoding='UTF-8' standalone='yes'?>
<Relationships xmlns="http://schemas.openxmlformats.org/package/2006/relationships"><Relationship Id="rIdFig4" Type="http://schemas.openxmlformats.org/officeDocument/2006/relationships/image" Target="../media/fig_block_curve.png"/><Relationship Id="rId1" Type="http://schemas.openxmlformats.org/officeDocument/2006/relationships/image" Target="../media/Slide-1-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9.xml"/><Relationship Id="rId7" Type="http://schemas.openxmlformats.org/officeDocument/2006/relationships/image" Target="../media/image7.png"/></Relationships>
</file>

<file path=ppt/slides/_rels/slide8.xml.rels><?xml version='1.0' encoding='UTF-8' standalone='yes'?>
<Relationships xmlns="http://schemas.openxmlformats.org/package/2006/relationships"><Relationship Id="rIdFig5" Type="http://schemas.openxmlformats.org/officeDocument/2006/relationships/image" Target="../media/fig_split_scheme.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21.xml"/><Relationship Id="rId7" Type="http://schemas.openxmlformats.org/officeDocument/2006/relationships/image" Target="../media/image3.png"/></Relationships>
</file>

<file path=ppt/slides/_rels/slide9.xml.rels><?xml version='1.0' encoding='UTF-8' standalone='yes'?>
<Relationships xmlns="http://schemas.openxmlformats.org/package/2006/relationships"><Relationship Id="rIdFig6" Type="http://schemas.openxmlformats.org/officeDocument/2006/relationships/image" Target="../media/fig_split_bars.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5.xml"/><Relationship Id="rId7" Type="http://schemas.openxmlformats.org/officeDocument/2006/relationships/image" Target="../media/image4.png"/></Relationships>
</file>

<file path=ppt/slides/_rels/slide10.xml.rels><?xml version='1.0' encoding='UTF-8' standalone='yes'?>
<Relationships xmlns="http://schemas.openxmlformats.org/package/2006/relationships"><Relationship Id="rIdFig7" Type="http://schemas.openxmlformats.org/officeDocument/2006/relationships/image" Target="../media/fig_shap_top7.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9.xml"/><Relationship Id="rId7" Type="http://schemas.openxmlformats.org/officeDocument/2006/relationships/image" Target="../media/image6.png"/></Relationships>
</file>

<file path=ppt/slides/_rels/slide11.xml.rels><?xml version='1.0' encoding='UTF-8' standalone='yes'?>
<Relationships xmlns="http://schemas.openxmlformats.org/package/2006/relationships"><Relationship Id="rIdFig3" Type="http://schemas.openxmlformats.org/officeDocument/2006/relationships/image" Target="../media/fig_fingerprint.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24.xml"/><Relationship Id="rId7"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14.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16.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workspace/slides/beed-deck-3SjUFH/family/assets/bioai_logo.png">    </p:cNvPr>
          <p:cNvPicPr>
            <a:picLocks noChangeAspect="1"/>
          </p:cNvPicPr>
          <p:nvPr/>
        </p:nvPicPr>
        <p:blipFill>
          <a:blip r:embed="rId2"/>
          <a:stretch>
            <a:fillRect/>
          </a:stretch>
        </p:blipFill>
        <p:spPr>
          <a:xfrm>
            <a:off x="457200" y="320040"/>
            <a:ext cx="1828800" cy="740664"/>
          </a:xfrm>
          <a:prstGeom prst="rect">
            <a:avLst/>
          </a:prstGeom>
        </p:spPr>
      </p:pic>
      <p:sp>
        <p:nvSpPr>
          <p:cNvPr id="3" name="Text 0"/>
          <p:cNvSpPr/>
          <p:nvPr/>
        </p:nvSpPr>
        <p:spPr>
          <a:xfrm>
            <a:off x="2926080" y="329184"/>
            <a:ext cx="5760720" cy="274320"/>
          </a:xfrm>
          <a:prstGeom prst="rect">
            <a:avLst/>
          </a:prstGeom>
          <a:noFill/>
          <a:ln/>
        </p:spPr>
        <p:txBody>
          <a:bodyPr wrap="square" lIns="68580" tIns="34290" rIns="68580" bIns="34290" rtlCol="0" anchor="t"/>
          <a:lstStyle/>
          <a:p>
            <a:pPr algn="r" indent="0" marL="0">
              <a:buNone/>
            </a:pPr>
            <a:r>
              <a:rPr lang="en-US" sz="1000" dirty="0">
                <a:solidFill>
                  <a:srgbClr val="FFFFFF"/>
                </a:solidFill>
                <a:latin typeface="Poppins" pitchFamily="34" charset="0"/>
                <a:ea typeface="Poppins" pitchFamily="34" charset="-122"/>
                <a:cs typeface="Poppins" pitchFamily="34" charset="-120"/>
              </a:rPr>
              <a:t>Track 2 – Genomics, Multi-Omics &amp; Precision Health</a:t>
            </a:r>
            <a:endParaRPr lang="en-US" sz="1000" dirty="0"/>
          </a:p>
        </p:txBody>
      </p:sp>
      <p:sp>
        <p:nvSpPr>
          <p:cNvPr id="4" name="Text 1"/>
          <p:cNvSpPr/>
          <p:nvPr/>
        </p:nvSpPr>
        <p:spPr>
          <a:xfrm>
            <a:off x="2926080" y="630936"/>
            <a:ext cx="5760720" cy="256032"/>
          </a:xfrm>
          <a:prstGeom prst="rect">
            <a:avLst/>
          </a:prstGeom>
          <a:noFill/>
          <a:ln/>
        </p:spPr>
        <p:txBody>
          <a:bodyPr wrap="square" lIns="68580" tIns="34290" rIns="68580" bIns="34290" rtlCol="0" anchor="t"/>
          <a:lstStyle/>
          <a:p>
            <a:pPr algn="r" indent="0" marL="0">
              <a:buNone/>
            </a:pPr>
            <a:r>
              <a:rPr lang="en-US" sz="900" dirty="0">
                <a:solidFill>
                  <a:srgbClr val="D9D2F3"/>
                </a:solidFill>
                <a:latin typeface="Poppins" pitchFamily="34" charset="0"/>
                <a:ea typeface="Poppins" pitchFamily="34" charset="-122"/>
                <a:cs typeface="Poppins" pitchFamily="34" charset="-120"/>
              </a:rPr>
              <a:t>11–12 December 2026  ·  NIELIT Guwahati, Gauhati University Campus</a:t>
            </a:r>
            <a:endParaRPr lang="en-US" sz="900" dirty="0"/>
          </a:p>
        </p:txBody>
      </p:sp>
      <p:sp>
        <p:nvSpPr>
          <p:cNvPr id="5" name="Text 2"/>
          <p:cNvSpPr/>
          <p:nvPr/>
        </p:nvSpPr>
        <p:spPr>
          <a:xfrm>
            <a:off x="411480" y="1115568"/>
            <a:ext cx="8321040" cy="932688"/>
          </a:xfrm>
          <a:prstGeom prst="rect">
            <a:avLst/>
          </a:prstGeom>
          <a:noFill/>
          <a:ln/>
        </p:spPr>
        <p:txBody>
          <a:bodyPr wrap="square" lIns="68580" tIns="34290" rIns="68580" bIns="34290" rtlCol="0" anchor="t"/>
          <a:lstStyle/>
          <a:p>
            <a:pPr algn="l" indent="0" marL="0">
              <a:lnSpc>
                <a:spcPct val="95000"/>
              </a:lnSpc>
              <a:buNone/>
            </a:pPr>
            <a:r>
              <a:rPr lang="en-US" sz="2900" b="1" dirty="0">
                <a:solidFill>
                  <a:srgbClr val="FFFFFF"/>
                </a:solidFill>
                <a:latin typeface="Kanit" pitchFamily="34" charset="0"/>
                <a:ea typeface="Kanit" pitchFamily="34" charset="-122"/>
                <a:cs typeface="Kanit" pitchFamily="34" charset="-120"/>
              </a:rPr>
              <a:t>What Near-Perfect Accuracy Does and Does Not Show</a:t>
            </a:r>
            <a:endParaRPr lang="en-US" sz="2900" dirty="0"/>
          </a:p>
        </p:txBody>
      </p:sp>
      <p:sp>
        <p:nvSpPr>
          <p:cNvPr id="6" name="Text 3"/>
          <p:cNvSpPr/>
          <p:nvPr/>
        </p:nvSpPr>
        <p:spPr>
          <a:xfrm>
            <a:off x="411480" y="2066544"/>
            <a:ext cx="8321040" cy="365760"/>
          </a:xfrm>
          <a:prstGeom prst="rect">
            <a:avLst/>
          </a:prstGeom>
          <a:noFill/>
          <a:ln/>
        </p:spPr>
        <p:txBody>
          <a:bodyPr wrap="square" lIns="68580" tIns="34290" rIns="68580" bIns="34290" rtlCol="0" anchor="t"/>
          <a:lstStyle/>
          <a:p>
            <a:pPr algn="l" indent="0" marL="0">
              <a:buNone/>
            </a:pPr>
            <a:r>
              <a:rPr lang="en-US" sz="1300" dirty="0">
                <a:solidFill>
                  <a:srgbClr val="F1D5EC"/>
                </a:solidFill>
                <a:latin typeface="Poppins" pitchFamily="34" charset="0"/>
                <a:ea typeface="Poppins" pitchFamily="34" charset="-122"/>
                <a:cs typeface="Poppins" pitchFamily="34" charset="-120"/>
              </a:rPr>
              <a:t>Leakage, Equivalence, Conformal Reliability and Data Efficiency on the UCI TCGA Pan-Cancer RNA-Seq Dataset</a:t>
            </a:r>
            <a:endParaRPr lang="en-US" sz="1300" dirty="0"/>
          </a:p>
        </p:txBody>
      </p:sp>
      <p:pic>
        <p:nvPicPr>
          <p:cNvPr id="7" name="Image 1" descr="/workspace/slides/beed-deck-3SjUFH/family/assets/pill.png">    </p:cNvPr>
          <p:cNvPicPr>
            <a:picLocks noChangeAspect="1"/>
          </p:cNvPicPr>
          <p:nvPr/>
        </p:nvPicPr>
        <p:blipFill>
          <a:blip r:embed="rId3"/>
          <a:stretch>
            <a:fillRect/>
          </a:stretch>
        </p:blipFill>
        <p:spPr>
          <a:xfrm>
            <a:off x="411480" y="2560320"/>
            <a:ext cx="2148840" cy="347472"/>
          </a:xfrm>
          <a:prstGeom prst="rect">
            <a:avLst/>
          </a:prstGeom>
        </p:spPr>
      </p:pic>
      <p:sp>
        <p:nvSpPr>
          <p:cNvPr id="8" name="Text 4"/>
          <p:cNvSpPr/>
          <p:nvPr/>
        </p:nvSpPr>
        <p:spPr>
          <a:xfrm>
            <a:off x="411480" y="2578608"/>
            <a:ext cx="2148840" cy="310896"/>
          </a:xfrm>
          <a:prstGeom prst="rect">
            <a:avLst/>
          </a:prstGeom>
          <a:noFill/>
          <a:ln/>
        </p:spPr>
        <p:txBody>
          <a:bodyPr wrap="square" lIns="68580" tIns="34290" rIns="68580" bIns="34290" rtlCol="0" anchor="t"/>
          <a:lstStyle/>
          <a:p>
            <a:pPr algn="ctr" indent="0" marL="0">
              <a:buNone/>
            </a:pPr>
            <a:r>
              <a:rPr lang="en-US" sz="1400" b="1" dirty="0">
                <a:solidFill>
                  <a:srgbClr val="2A2C86"/>
                </a:solidFill>
                <a:latin typeface="Kanit" pitchFamily="34" charset="0"/>
                <a:ea typeface="Kanit" pitchFamily="34" charset="-122"/>
                <a:cs typeface="Kanit" pitchFamily="34" charset="-120"/>
              </a:rPr>
              <a:t>Er. Rishabh Aryan</a:t>
            </a:r>
            <a:endParaRPr lang="en-US" sz="1400" dirty="0"/>
          </a:p>
        </p:txBody>
      </p:sp>
      <p:sp>
        <p:nvSpPr>
          <p:cNvPr id="9" name="Text 5"/>
          <p:cNvSpPr/>
          <p:nvPr/>
        </p:nvSpPr>
        <p:spPr>
          <a:xfrm>
            <a:off x="411480" y="2990088"/>
            <a:ext cx="8321040" cy="62179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000" b="0" i="0" dirty="0">
                <a:solidFill>
                  <a:srgbClr val="FFFFFF"/>
                </a:solidFill>
                <a:latin typeface="Poppins"/>
                <a:ea typeface="Poppins"/>
                <a:cs typeface="Poppins"/>
              </a:rPr>
              <a:t>M.Tech (Artificial Intelligence and Data Science),</a:t>
            </a:r>
          </a:p>
          <a:p>
            <a:pPr algn="l">
              <a:spcBef>
                <a:spcPts val="0"/>
              </a:spcBef>
              <a:spcAft>
                <a:spcPts val="0"/>
              </a:spcAft>
              <a:buNone/>
            </a:pPr>
            <a:r>
              <a:rPr lang="en-US" sz="1000" b="0" i="0" dirty="0">
                <a:solidFill>
                  <a:srgbClr val="FFFFFF"/>
                </a:solidFill>
                <a:latin typeface="Poppins"/>
                <a:ea typeface="Poppins"/>
                <a:cs typeface="Poppins"/>
              </a:rPr>
              <a:t>Department of Computer Science and Engineering,</a:t>
            </a:r>
          </a:p>
          <a:p>
            <a:pPr algn="l">
              <a:spcBef>
                <a:spcPts val="0"/>
              </a:spcBef>
              <a:spcAft>
                <a:spcPts val="0"/>
              </a:spcAft>
              <a:buNone/>
            </a:pPr>
            <a:r>
              <a:rPr lang="en-US" sz="1000" b="0" i="0" dirty="0">
                <a:solidFill>
                  <a:srgbClr val="FFFFFF"/>
                </a:solidFill>
                <a:latin typeface="Poppins"/>
                <a:ea typeface="Poppins"/>
                <a:cs typeface="Poppins"/>
              </a:rPr>
              <a:t>Indian Institute of Information Technology, Bhagalpur (Bihar)</a:t>
            </a:r>
          </a:p>
        </p:txBody>
      </p:sp>
      <p:sp>
        <p:nvSpPr>
          <p:cNvPr id="10" name="Text 6"/>
          <p:cNvSpPr/>
          <p:nvPr/>
        </p:nvSpPr>
        <p:spPr>
          <a:xfrm>
            <a:off x="411480" y="3639312"/>
            <a:ext cx="8321040"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000" b="0" i="0" dirty="0">
                <a:solidFill>
                  <a:srgbClr val="D9D2F3"/>
                </a:solidFill>
                <a:latin typeface="Poppins"/>
                <a:ea typeface="Poppins"/>
                <a:cs typeface="Poppins"/>
              </a:rPr>
              <a:t>E-mail: rishabh.250201011@iiitbh.ac.in</a:t>
            </a:r>
          </a:p>
          <a:p>
            <a:pPr algn="l">
              <a:spcBef>
                <a:spcPts val="0"/>
              </a:spcBef>
              <a:spcAft>
                <a:spcPts val="0"/>
              </a:spcAft>
              <a:buNone/>
            </a:pPr>
            <a:r>
              <a:rPr lang="en-US" sz="1000" b="0" i="0" dirty="0">
                <a:solidFill>
                  <a:srgbClr val="D9D2F3"/>
                </a:solidFill>
                <a:latin typeface="Poppins"/>
                <a:ea typeface="Poppins"/>
                <a:cs typeface="Poppins"/>
              </a:rPr>
              <a:t>ORCID ID: https://orcid.org/0009-0004-7595-9440</a:t>
            </a:r>
          </a:p>
        </p:txBody>
      </p:sp>
      <p:sp>
        <p:nvSpPr>
          <p:cNvPr id="11" name="Shape 7"/>
          <p:cNvSpPr/>
          <p:nvPr/>
        </p:nvSpPr>
        <p:spPr>
          <a:xfrm>
            <a:off x="0" y="4315968"/>
            <a:ext cx="9144000" cy="827532"/>
          </a:xfrm>
          <a:prstGeom prst="rect">
            <a:avLst/>
          </a:prstGeom>
          <a:solidFill>
            <a:srgbClr val="EDE6F8"/>
          </a:solidFill>
          <a:ln/>
        </p:spPr>
        <p:txBody>
          <a:bodyPr/>
          <a:p/>
        </p:txBody>
      </p:sp>
      <p:pic>
        <p:nvPicPr>
          <p:cNvPr id="12" name="Image 2" descr="/workspace/slides/beed-deck-3SjUFH/family/assets/organiser_strip.png">    </p:cNvPr>
          <p:cNvPicPr>
            <a:picLocks noChangeAspect="1"/>
          </p:cNvPicPr>
          <p:nvPr/>
        </p:nvPicPr>
        <p:blipFill>
          <a:blip r:embed="rId4"/>
          <a:stretch>
            <a:fillRect/>
          </a:stretch>
        </p:blipFill>
        <p:spPr>
          <a:xfrm>
            <a:off x="1828800" y="4389120"/>
            <a:ext cx="4572000" cy="685800"/>
          </a:xfrm>
          <a:prstGeom prst="rect">
            <a:avLst/>
          </a:prstGeom>
        </p:spPr>
      </p:pic>
      <p:sp>
        <p:nvSpPr>
          <p:cNvPr id="13" name="Text 8"/>
          <p:cNvSpPr/>
          <p:nvPr/>
        </p:nvSpPr>
        <p:spPr>
          <a:xfrm>
            <a:off x="6492240" y="4572000"/>
            <a:ext cx="2286000" cy="320040"/>
          </a:xfrm>
          <a:prstGeom prst="rect">
            <a:avLst/>
          </a:prstGeom>
          <a:noFill/>
          <a:ln/>
        </p:spPr>
        <p:txBody>
          <a:bodyPr wrap="square" lIns="68580" tIns="34290" rIns="68580" bIns="34290" rtlCol="0" anchor="t"/>
          <a:lstStyle/>
          <a:p>
            <a:pPr algn="r" indent="0" marL="0">
              <a:buNone/>
            </a:pPr>
            <a:r>
              <a:rPr lang="en-US" sz="1100" b="1" dirty="0">
                <a:solidFill>
                  <a:srgbClr val="2A2C86"/>
                </a:solidFill>
                <a:latin typeface="Kanit" pitchFamily="34" charset="0"/>
                <a:ea typeface="Kanit" pitchFamily="34" charset="-122"/>
                <a:cs typeface="Kanit" pitchFamily="34" charset="-120"/>
              </a:rPr>
              <a:t>NIELIT Bio-AI Conclave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21208" y="602590"/>
            <a:ext cx="8100670" cy="83119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4400" b="0" i="0" dirty="0">
                <a:solidFill>
                  <a:srgbClr val="17173A"/>
                </a:solidFill>
                <a:latin typeface="Kanit"/>
                <a:ea typeface="Kanit"/>
                <a:cs typeface="Kanit"/>
              </a:rPr>
              <a:t>Outline</a:t>
            </a:r>
          </a:p>
        </p:txBody>
      </p:sp>
      <p:sp>
        <p:nvSpPr>
          <p:cNvPr id="3" name="Shape 1"/>
          <p:cNvSpPr/>
          <p:nvPr/>
        </p:nvSpPr>
        <p:spPr>
          <a:xfrm>
            <a:off x="0" y="1481328"/>
            <a:ext cx="9144000" cy="0"/>
          </a:xfrm>
          <a:prstGeom prst="line">
            <a:avLst/>
          </a:prstGeom>
          <a:noFill/>
          <a:ln w="19050">
            <a:solidFill>
              <a:srgbClr val="17173A"/>
            </a:solidFill>
            <a:prstDash val="solid"/>
          </a:ln>
        </p:spPr>
        <p:txBody>
          <a:bodyPr/>
          <a:p/>
        </p:txBody>
      </p:sp>
      <p:pic>
        <p:nvPicPr>
          <p:cNvPr id="16"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7" name="Shape 14"/>
          <p:cNvSpPr/>
          <p:nvPr/>
        </p:nvSpPr>
        <p:spPr>
          <a:xfrm>
            <a:off x="0" y="4796028"/>
            <a:ext cx="9144000" cy="347472"/>
          </a:xfrm>
          <a:prstGeom prst="rect">
            <a:avLst/>
          </a:prstGeom>
          <a:solidFill>
            <a:srgbClr val="EDE6F8"/>
          </a:solidFill>
          <a:ln/>
        </p:spPr>
        <p:txBody>
          <a:bodyPr/>
          <a:p/>
        </p:txBody>
      </p:sp>
      <p:sp>
        <p:nvSpPr>
          <p:cNvPr id="18" name="Shape 15"/>
          <p:cNvSpPr/>
          <p:nvPr/>
        </p:nvSpPr>
        <p:spPr>
          <a:xfrm>
            <a:off x="0" y="4796028"/>
            <a:ext cx="109728" cy="347472"/>
          </a:xfrm>
          <a:prstGeom prst="rect">
            <a:avLst/>
          </a:prstGeom>
          <a:solidFill>
            <a:srgbClr val="5B2C91"/>
          </a:solidFill>
          <a:ln/>
        </p:spPr>
        <p:txBody>
          <a:bodyPr/>
          <a:p/>
        </p:txBody>
      </p:sp>
      <p:pic>
        <p:nvPicPr>
          <p:cNvPr id="19"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20" name="Text 16"/>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2</a:t>
            </a:r>
            <a:endParaRPr lang="en-US" sz="850" dirty="0"/>
          </a:p>
        </p:txBody>
      </p:sp>
      <p:sp>
        <p:nvSpPr>
          <p:cNvPr id="21" name="Text 17"/>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2 / 16</a:t>
            </a:r>
            <a:endParaRPr lang="en-US" sz="850" dirty="0"/>
          </a:p>
        </p:txBody>
      </p:sp>
      <p:sp>
        <p:nvSpPr>
          <p:cNvPr id="901" name="Outline 1"/>
          <p:cNvSpPr txBox="1"/>
          <p:nvPr/>
        </p:nvSpPr>
        <p:spPr>
          <a:xfrm>
            <a:off x="731520" y="1783080"/>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1.  Introduction</a:t>
            </a:r>
          </a:p>
          <a:p>
            <a:pPr algn="l">
              <a:spcBef>
                <a:spcPts val="0"/>
              </a:spcBef>
              <a:spcAft>
                <a:spcPts val="0"/>
              </a:spcAft>
              <a:buNone/>
            </a:pPr>
            <a:r>
              <a:rPr lang="en-US" sz="1200" b="0" i="0" dirty="0">
                <a:solidFill>
                  <a:srgbClr val="17173A"/>
                </a:solidFill>
                <a:latin typeface="Poppins"/>
                <a:ea typeface="Poppins"/>
                <a:cs typeface="Poppins"/>
              </a:rPr>
              <a:t>Motivation, the UCI TCGA dataset, research questions</a:t>
            </a:r>
          </a:p>
        </p:txBody>
      </p:sp>
      <p:sp>
        <p:nvSpPr>
          <p:cNvPr id="902" name="Outline 2"/>
          <p:cNvSpPr txBox="1"/>
          <p:nvPr/>
        </p:nvSpPr>
        <p:spPr>
          <a:xfrm>
            <a:off x="731520" y="2679192"/>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2.  Methodology</a:t>
            </a:r>
          </a:p>
          <a:p>
            <a:pPr algn="l">
              <a:spcBef>
                <a:spcPts val="0"/>
              </a:spcBef>
              <a:spcAft>
                <a:spcPts val="0"/>
              </a:spcAft>
              <a:buNone/>
            </a:pPr>
            <a:r>
              <a:rPr lang="en-US" sz="1200" b="0" i="0" dirty="0">
                <a:solidFill>
                  <a:srgbClr val="17173A"/>
                </a:solidFill>
                <a:latin typeface="Poppins"/>
                <a:ea typeface="Poppins"/>
                <a:cs typeface="Poppins"/>
              </a:rPr>
              <a:t>In-fold pipeline, 7 classifiers + majority baseline, leakage audit</a:t>
            </a:r>
          </a:p>
        </p:txBody>
      </p:sp>
      <p:sp>
        <p:nvSpPr>
          <p:cNvPr id="903" name="Outline 3"/>
          <p:cNvSpPr txBox="1"/>
          <p:nvPr/>
        </p:nvSpPr>
        <p:spPr>
          <a:xfrm>
            <a:off x="731520" y="3575304"/>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3.  Results: Leakage and Models</a:t>
            </a:r>
          </a:p>
          <a:p>
            <a:pPr algn="l">
              <a:spcBef>
                <a:spcPts val="0"/>
              </a:spcBef>
              <a:spcAft>
                <a:spcPts val="0"/>
              </a:spcAft>
              <a:buNone/>
            </a:pPr>
            <a:r>
              <a:rPr lang="en-US" sz="1200" b="0" i="0" dirty="0">
                <a:solidFill>
                  <a:srgbClr val="17173A"/>
                </a:solidFill>
                <a:latin typeface="Poppins"/>
                <a:ea typeface="Poppins"/>
                <a:cs typeface="Poppins"/>
              </a:rPr>
              <a:t>Leakage audit, performance, equivalence, errors and reliability</a:t>
            </a:r>
          </a:p>
        </p:txBody>
      </p:sp>
      <p:sp>
        <p:nvSpPr>
          <p:cNvPr id="904" name="Outline 4"/>
          <p:cNvSpPr txBox="1"/>
          <p:nvPr/>
        </p:nvSpPr>
        <p:spPr>
          <a:xfrm>
            <a:off x="4754880" y="1783080"/>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4.  Results: Data and Genes</a:t>
            </a:r>
          </a:p>
          <a:p>
            <a:pPr algn="l">
              <a:spcBef>
                <a:spcPts val="0"/>
              </a:spcBef>
              <a:spcAft>
                <a:spcPts val="0"/>
              </a:spcAft>
              <a:buNone/>
            </a:pPr>
            <a:r>
              <a:rPr lang="en-US" sz="1200" b="0" i="0" dirty="0">
                <a:solidFill>
                  <a:srgbClr val="17173A"/>
                </a:solidFill>
                <a:latin typeface="Poppins"/>
                <a:ea typeface="Poppins"/>
                <a:cs typeface="Poppins"/>
              </a:rPr>
              <a:t>Learning curves, leakage vs n, selection stability</a:t>
            </a:r>
          </a:p>
        </p:txBody>
      </p:sp>
      <p:sp>
        <p:nvSpPr>
          <p:cNvPr id="905" name="Outline 5"/>
          <p:cNvSpPr txBox="1"/>
          <p:nvPr/>
        </p:nvSpPr>
        <p:spPr>
          <a:xfrm>
            <a:off x="4754880" y="2679192"/>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5.  Discussion</a:t>
            </a:r>
          </a:p>
          <a:p>
            <a:pPr algn="l">
              <a:spcBef>
                <a:spcPts val="0"/>
              </a:spcBef>
              <a:spcAft>
                <a:spcPts val="0"/>
              </a:spcAft>
              <a:buNone/>
            </a:pPr>
            <a:r>
              <a:rPr lang="en-US" sz="1200" b="0" i="0" dirty="0">
                <a:solidFill>
                  <a:srgbClr val="17173A"/>
                </a:solidFill>
                <a:latin typeface="Poppins"/>
                <a:ea typeface="Poppins"/>
                <a:cs typeface="Poppins"/>
              </a:rPr>
              <a:t>Limitations of the dataset and the study</a:t>
            </a:r>
          </a:p>
        </p:txBody>
      </p:sp>
      <p:sp>
        <p:nvSpPr>
          <p:cNvPr id="906" name="Outline 6"/>
          <p:cNvSpPr txBox="1"/>
          <p:nvPr/>
        </p:nvSpPr>
        <p:spPr>
          <a:xfrm>
            <a:off x="4754880" y="3575304"/>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6.  Conclusion</a:t>
            </a:r>
          </a:p>
          <a:p>
            <a:pPr algn="l">
              <a:spcBef>
                <a:spcPts val="0"/>
              </a:spcBef>
              <a:spcAft>
                <a:spcPts val="0"/>
              </a:spcAft>
              <a:buNone/>
            </a:pPr>
            <a:r>
              <a:rPr lang="en-US" sz="1200" b="0" i="0" dirty="0">
                <a:solidFill>
                  <a:srgbClr val="17173A"/>
                </a:solidFill>
                <a:latin typeface="Poppins"/>
                <a:ea typeface="Poppins"/>
                <a:cs typeface="Poppins"/>
              </a:rPr>
              <a:t>Takeaways and future 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7921" y="502920"/>
            <a:ext cx="6949440" cy="68580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3200" b="0" i="0" dirty="0">
                <a:solidFill>
                  <a:srgbClr val="17173A"/>
                </a:solidFill>
                <a:latin typeface="Kanit"/>
                <a:ea typeface="Kanit"/>
                <a:cs typeface="Kanit"/>
              </a:rPr>
              <a:t>1. Introduction: Motivation</a:t>
            </a:r>
          </a:p>
        </p:txBody>
      </p:sp>
      <p:pic>
        <p:nvPicPr>
          <p:cNvPr id="991" name="Figure 1" descr="s_pca.png"/>
          <p:cNvPicPr>
            <a:picLocks noChangeAspect="1"/>
          </p:cNvPicPr>
          <p:nvPr/>
        </p:nvPicPr>
        <p:blipFill>
          <a:blip r:embed="rId7"/>
          <a:stretch>
            <a:fillRect/>
          </a:stretch>
        </p:blipFill>
        <p:spPr>
          <a:xfrm>
            <a:off x="5074920" y="1327268"/>
            <a:ext cx="3398008" cy="2648984"/>
          </a:xfrm>
          <a:prstGeom prst="rect">
            <a:avLst/>
          </a:prstGeom>
        </p:spPr>
      </p:pic>
      <p:pic>
        <p:nvPicPr>
          <p:cNvPr id="15"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6" name="Shape 13"/>
          <p:cNvSpPr/>
          <p:nvPr/>
        </p:nvSpPr>
        <p:spPr>
          <a:xfrm>
            <a:off x="0" y="4796028"/>
            <a:ext cx="9144000" cy="347472"/>
          </a:xfrm>
          <a:prstGeom prst="rect">
            <a:avLst/>
          </a:prstGeom>
          <a:solidFill>
            <a:srgbClr val="EDE6F8"/>
          </a:solidFill>
          <a:ln/>
        </p:spPr>
        <p:txBody>
          <a:bodyPr/>
          <a:p/>
        </p:txBody>
      </p:sp>
      <p:sp>
        <p:nvSpPr>
          <p:cNvPr id="17" name="Shape 14"/>
          <p:cNvSpPr/>
          <p:nvPr/>
        </p:nvSpPr>
        <p:spPr>
          <a:xfrm>
            <a:off x="0" y="4796028"/>
            <a:ext cx="109728" cy="347472"/>
          </a:xfrm>
          <a:prstGeom prst="rect">
            <a:avLst/>
          </a:prstGeom>
          <a:solidFill>
            <a:srgbClr val="5B2C91"/>
          </a:solidFill>
          <a:ln/>
        </p:spPr>
        <p:txBody>
          <a:bodyPr/>
          <a:p/>
        </p:txBody>
      </p:sp>
      <p:pic>
        <p:nvPicPr>
          <p:cNvPr id="18"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9" name="Text 15"/>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2</a:t>
            </a:r>
            <a:endParaRPr lang="en-US" sz="850" dirty="0"/>
          </a:p>
        </p:txBody>
      </p:sp>
      <p:sp>
        <p:nvSpPr>
          <p:cNvPr id="20" name="Text 16"/>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3 / 16</a:t>
            </a:r>
            <a:endParaRPr lang="en-US" sz="850" dirty="0"/>
          </a:p>
        </p:txBody>
      </p:sp>
      <p:sp>
        <p:nvSpPr>
          <p:cNvPr id="907" name="Bullets"/>
          <p:cNvSpPr txBox="1"/>
          <p:nvPr/>
        </p:nvSpPr>
        <p:spPr>
          <a:xfrm>
            <a:off x="777240" y="1417320"/>
            <a:ext cx="4206240" cy="2926080"/>
          </a:xfrm>
          <a:prstGeom prst="rect">
            <a:avLst/>
          </a:prstGeom>
          <a:noFill/>
        </p:spPr>
        <p:txBody>
          <a:bodyPr wrap="square" lIns="45720" tIns="27432" rIns="45720" bIns="27432" anchor="t">
            <a:normAutofit/>
          </a:bodyPr>
          <a:lstStyle/>
          <a:p>
            <a:pPr marL="274320" indent="-274320" algn="l">
              <a:lnSpc>
                <a:spcPct val="95000"/>
              </a:lnSpc>
              <a:spcBef>
                <a:spcPts val="0"/>
              </a:spcBef>
              <a:spcAft>
                <a:spcPts val="2200"/>
              </a:spcAft>
              <a:buClr>
                <a:srgbClr val="5B2C91"/>
              </a:buClr>
              <a:buSzPct val="150000"/>
              <a:buFont typeface="Kanit"/>
              <a:buChar char="›"/>
            </a:pPr>
            <a:r>
              <a:rPr lang="en-US" sz="1300" b="0" i="0" dirty="0">
                <a:solidFill>
                  <a:srgbClr val="17173A"/>
                </a:solidFill>
                <a:latin typeface="Poppins"/>
                <a:ea typeface="Poppins"/>
                <a:cs typeface="Poppins"/>
              </a:rPr>
              <a:t>Tissue of origin guides cancer treatment, notably for unknown primaries [5].</a:t>
            </a:r>
          </a:p>
          <a:p>
            <a:pPr marL="274320" indent="-274320" algn="l">
              <a:lnSpc>
                <a:spcPct val="95000"/>
              </a:lnSpc>
              <a:spcBef>
                <a:spcPts val="0"/>
              </a:spcBef>
              <a:spcAft>
                <a:spcPts val="2200"/>
              </a:spcAft>
              <a:buClr>
                <a:srgbClr val="5B2C91"/>
              </a:buClr>
              <a:buSzPct val="150000"/>
              <a:buFont typeface="Kanit"/>
              <a:buChar char="›"/>
            </a:pPr>
            <a:r>
              <a:rPr lang="en-US" sz="1300" b="0" i="0" dirty="0">
                <a:solidFill>
                  <a:srgbClr val="17173A"/>
                </a:solidFill>
                <a:latin typeface="Poppins"/>
                <a:ea typeface="Poppins"/>
                <a:cs typeface="Poppins"/>
              </a:rPr>
              <a:t>Expression profiles carry a strong cell-of-origin signal [2].</a:t>
            </a:r>
          </a:p>
          <a:p>
            <a:pPr marL="274320" indent="-274320" algn="l">
              <a:lnSpc>
                <a:spcPct val="95000"/>
              </a:lnSpc>
              <a:spcBef>
                <a:spcPts val="0"/>
              </a:spcBef>
              <a:spcAft>
                <a:spcPts val="2200"/>
              </a:spcAft>
              <a:buClr>
                <a:srgbClr val="5B2C91"/>
              </a:buClr>
              <a:buSzPct val="150000"/>
              <a:buFont typeface="Kanit"/>
              <a:buChar char="›"/>
            </a:pPr>
            <a:r>
              <a:rPr lang="en-US" sz="1300" b="0" i="0" dirty="0">
                <a:solidFill>
                  <a:srgbClr val="17173A"/>
                </a:solidFill>
                <a:latin typeface="Poppins"/>
                <a:ea typeface="Poppins"/>
                <a:cs typeface="Poppins"/>
              </a:rPr>
              <a:t>On the UCI TCGA subset, 98–100% accuracy is routinely reported [1], [7].</a:t>
            </a:r>
          </a:p>
          <a:p>
            <a:pPr marL="274320" indent="-274320" algn="l">
              <a:lnSpc>
                <a:spcPct val="95000"/>
              </a:lnSpc>
              <a:spcBef>
                <a:spcPts val="0"/>
              </a:spcBef>
              <a:spcAft>
                <a:spcPts val="2200"/>
              </a:spcAft>
              <a:buClr>
                <a:srgbClr val="5B2C91"/>
              </a:buClr>
              <a:buSzPct val="150000"/>
              <a:buFont typeface="Kanit"/>
              <a:buChar char="›"/>
            </a:pPr>
            <a:r>
              <a:rPr lang="en-US" sz="1300" b="0" i="0" dirty="0">
                <a:solidFill>
                  <a:srgbClr val="17173A"/>
                </a:solidFill>
                <a:latin typeface="Poppins"/>
                <a:ea typeface="Poppins"/>
                <a:cs typeface="Poppins"/>
              </a:rPr>
              <a:t>Many studies select genes on all data and use no test [3], [6]: how much does it matter here?</a:t>
            </a:r>
          </a:p>
        </p:txBody>
      </p:sp>
      <p:sp>
        <p:nvSpPr>
          <p:cNvPr id="911" name="Caption 1"/>
          <p:cNvSpPr txBox="1"/>
          <p:nvPr/>
        </p:nvSpPr>
        <p:spPr>
          <a:xfrm>
            <a:off x="5074920" y="4023360"/>
            <a:ext cx="3398008" cy="384048"/>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1. PCA of all expressed genes, 801 tumours, five types (visualisation only)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93115" y="384048"/>
            <a:ext cx="6217920" cy="566928"/>
          </a:xfrm>
          <a:prstGeom prst="rect">
            <a:avLst/>
          </a:prstGeom>
          <a:noFill/>
          <a:ln/>
        </p:spPr>
        <p:txBody>
          <a:bodyPr wrap="square" lIns="68580" tIns="34290" rIns="68580" bIns="34290" rtlCol="0" anchor="b">
            <a:normAutofit/>
          </a:bodyPr>
          <a:lstStyle/>
          <a:p>
            <a:pPr algn="l">
              <a:spcBef>
                <a:spcPts val="0"/>
              </a:spcBef>
              <a:spcAft>
                <a:spcPts val="0"/>
              </a:spcAft>
              <a:buNone/>
            </a:pPr>
            <a:r>
              <a:rPr lang="en-US" sz="2800" b="0" i="0" dirty="0">
                <a:solidFill>
                  <a:srgbClr val="17173A"/>
                </a:solidFill>
                <a:latin typeface="Kanit"/>
                <a:ea typeface="Kanit"/>
                <a:cs typeface="Kanit"/>
              </a:rPr>
              <a:t>1. Introduction: The Dataset</a:t>
            </a:r>
          </a:p>
        </p:txBody>
      </p:sp>
      <p:sp>
        <p:nvSpPr>
          <p:cNvPr id="3" name="Shape 1"/>
          <p:cNvSpPr/>
          <p:nvPr/>
        </p:nvSpPr>
        <p:spPr>
          <a:xfrm>
            <a:off x="0" y="1481328"/>
            <a:ext cx="7001561" cy="0"/>
          </a:xfrm>
          <a:prstGeom prst="line">
            <a:avLst/>
          </a:prstGeom>
          <a:noFill/>
          <a:ln w="19050">
            <a:solidFill>
              <a:srgbClr val="17173A"/>
            </a:solidFill>
            <a:prstDash val="solid"/>
          </a:ln>
        </p:spPr>
        <p:txBody>
          <a:bodyPr/>
          <a:p/>
        </p:txBody>
      </p:sp>
      <p:sp>
        <p:nvSpPr>
          <p:cNvPr id="4" name="Shape 2"/>
          <p:cNvSpPr/>
          <p:nvPr/>
        </p:nvSpPr>
        <p:spPr>
          <a:xfrm>
            <a:off x="0" y="3039466"/>
            <a:ext cx="7001561" cy="0"/>
          </a:xfrm>
          <a:prstGeom prst="line">
            <a:avLst/>
          </a:prstGeom>
          <a:noFill/>
          <a:ln w="19050">
            <a:solidFill>
              <a:srgbClr val="17173A"/>
            </a:solidFill>
            <a:prstDash val="solid"/>
          </a:ln>
        </p:spPr>
        <p:txBody>
          <a:bodyPr/>
          <a:p/>
        </p:txBody>
      </p:sp>
      <p:sp>
        <p:nvSpPr>
          <p:cNvPr id="5" name="Shape 3"/>
          <p:cNvSpPr/>
          <p:nvPr/>
        </p:nvSpPr>
        <p:spPr>
          <a:xfrm>
            <a:off x="7001561" y="0"/>
            <a:ext cx="0" cy="4596689"/>
          </a:xfrm>
          <a:prstGeom prst="line">
            <a:avLst/>
          </a:prstGeom>
          <a:noFill/>
          <a:ln w="19050">
            <a:solidFill>
              <a:srgbClr val="17173A"/>
            </a:solidFill>
            <a:prstDash val="solid"/>
          </a:ln>
        </p:spPr>
        <p:txBody>
          <a:bodyPr/>
          <a:p/>
        </p:txBody>
      </p:sp>
      <p:sp>
        <p:nvSpPr>
          <p:cNvPr id="6" name="Shape 4"/>
          <p:cNvSpPr/>
          <p:nvPr/>
        </p:nvSpPr>
        <p:spPr>
          <a:xfrm>
            <a:off x="3500323" y="1481328"/>
            <a:ext cx="0" cy="3115361"/>
          </a:xfrm>
          <a:prstGeom prst="line">
            <a:avLst/>
          </a:prstGeom>
          <a:noFill/>
          <a:ln w="19050">
            <a:solidFill>
              <a:srgbClr val="17173A"/>
            </a:solidFill>
            <a:prstDash val="solid"/>
          </a:ln>
        </p:spPr>
        <p:txBody>
          <a:bodyPr/>
          <a:p/>
        </p:txBody>
      </p:sp>
      <p:sp>
        <p:nvSpPr>
          <p:cNvPr id="9" name="Text 7"/>
          <p:cNvSpPr/>
          <p:nvPr/>
        </p:nvSpPr>
        <p:spPr>
          <a:xfrm>
            <a:off x="706831" y="1797710"/>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Classes</a:t>
            </a:r>
          </a:p>
        </p:txBody>
      </p:sp>
      <p:sp>
        <p:nvSpPr>
          <p:cNvPr id="10" name="Text 8"/>
          <p:cNvSpPr/>
          <p:nvPr/>
        </p:nvSpPr>
        <p:spPr>
          <a:xfrm>
            <a:off x="706831" y="2236622"/>
            <a:ext cx="2697480" cy="65836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BRCA 300, KIRC 146, LUAD 141, PRAD 136, COAD 78.</a:t>
            </a:r>
          </a:p>
        </p:txBody>
      </p:sp>
      <p:sp>
        <p:nvSpPr>
          <p:cNvPr id="11" name="Text 9"/>
          <p:cNvSpPr/>
          <p:nvPr/>
        </p:nvSpPr>
        <p:spPr>
          <a:xfrm>
            <a:off x="4022446" y="1797710"/>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Values</a:t>
            </a:r>
          </a:p>
        </p:txBody>
      </p:sp>
      <p:sp>
        <p:nvSpPr>
          <p:cNvPr id="12" name="Text 10"/>
          <p:cNvSpPr/>
          <p:nvPr/>
        </p:nvSpPr>
        <p:spPr>
          <a:xfrm>
            <a:off x="4022446" y="2236622"/>
            <a:ext cx="2697480" cy="65836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Already log-scaled (0–20.8); 267 genes constant; no missing values.</a:t>
            </a:r>
          </a:p>
        </p:txBody>
      </p:sp>
      <p:sp>
        <p:nvSpPr>
          <p:cNvPr id="13" name="Text 11"/>
          <p:cNvSpPr/>
          <p:nvPr/>
        </p:nvSpPr>
        <p:spPr>
          <a:xfrm>
            <a:off x="706831" y="3328416"/>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Gene names</a:t>
            </a:r>
          </a:p>
        </p:txBody>
      </p:sp>
      <p:sp>
        <p:nvSpPr>
          <p:cNvPr id="14" name="Text 12"/>
          <p:cNvSpPr/>
          <p:nvPr/>
        </p:nvSpPr>
        <p:spPr>
          <a:xfrm>
            <a:off x="706831" y="3767328"/>
            <a:ext cx="2697480" cy="65836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Dummy names gene_0 … gene_20530; no gene symbols released.</a:t>
            </a:r>
          </a:p>
        </p:txBody>
      </p:sp>
      <p:sp>
        <p:nvSpPr>
          <p:cNvPr id="15" name="Text 13"/>
          <p:cNvSpPr/>
          <p:nvPr/>
        </p:nvSpPr>
        <p:spPr>
          <a:xfrm>
            <a:off x="4022446" y="3328416"/>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Not included</a:t>
            </a:r>
          </a:p>
        </p:txBody>
      </p:sp>
      <p:sp>
        <p:nvSpPr>
          <p:cNvPr id="16" name="Text 14"/>
          <p:cNvSpPr/>
          <p:nvPr/>
        </p:nvSpPr>
        <p:spPr>
          <a:xfrm>
            <a:off x="4022446" y="3767328"/>
            <a:ext cx="2697480" cy="65836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Clinical data, batch or site information, normal tissue labels.</a:t>
            </a:r>
          </a:p>
        </p:txBody>
      </p:sp>
      <p:pic>
        <p:nvPicPr>
          <p:cNvPr id="1104" name="Figure 2" descr="s_classes.png"/>
          <p:cNvPicPr>
            <a:picLocks noChangeAspect="1"/>
          </p:cNvPicPr>
          <p:nvPr/>
        </p:nvPicPr>
        <p:blipFill>
          <a:blip r:embed="rId7"/>
          <a:stretch>
            <a:fillRect/>
          </a:stretch>
        </p:blipFill>
        <p:spPr>
          <a:xfrm>
            <a:off x="7132320" y="640263"/>
            <a:ext cx="1856000" cy="2925714"/>
          </a:xfrm>
          <a:prstGeom prst="rect">
            <a:avLst/>
          </a:prstGeom>
        </p:spPr>
      </p:pic>
      <p:pic>
        <p:nvPicPr>
          <p:cNvPr id="17"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8" name="Shape 15"/>
          <p:cNvSpPr/>
          <p:nvPr/>
        </p:nvSpPr>
        <p:spPr>
          <a:xfrm>
            <a:off x="0" y="4796028"/>
            <a:ext cx="9144000" cy="347472"/>
          </a:xfrm>
          <a:prstGeom prst="rect">
            <a:avLst/>
          </a:prstGeom>
          <a:solidFill>
            <a:srgbClr val="EDE6F8"/>
          </a:solidFill>
          <a:ln/>
        </p:spPr>
        <p:txBody>
          <a:bodyPr/>
          <a:p/>
        </p:txBody>
      </p:sp>
      <p:sp>
        <p:nvSpPr>
          <p:cNvPr id="19" name="Shape 16"/>
          <p:cNvSpPr/>
          <p:nvPr/>
        </p:nvSpPr>
        <p:spPr>
          <a:xfrm>
            <a:off x="0" y="4796028"/>
            <a:ext cx="109728" cy="347472"/>
          </a:xfrm>
          <a:prstGeom prst="rect">
            <a:avLst/>
          </a:prstGeom>
          <a:solidFill>
            <a:srgbClr val="5B2C91"/>
          </a:solidFill>
          <a:ln/>
        </p:spPr>
        <p:txBody>
          <a:bodyPr/>
          <a:p/>
        </p:txBody>
      </p:sp>
      <p:pic>
        <p:nvPicPr>
          <p:cNvPr id="20"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21" name="Text 17"/>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2</a:t>
            </a:r>
            <a:endParaRPr lang="en-US" sz="850" dirty="0"/>
          </a:p>
        </p:txBody>
      </p:sp>
      <p:sp>
        <p:nvSpPr>
          <p:cNvPr id="22" name="Text 18"/>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4 / 16</a:t>
            </a:r>
            <a:endParaRPr lang="en-US" sz="850" dirty="0"/>
          </a:p>
        </p:txBody>
      </p:sp>
      <p:sp>
        <p:nvSpPr>
          <p:cNvPr id="1101" name="Facts"/>
          <p:cNvSpPr txBox="1"/>
          <p:nvPr/>
        </p:nvSpPr>
        <p:spPr>
          <a:xfrm>
            <a:off x="693115" y="969264"/>
            <a:ext cx="6217920" cy="384048"/>
          </a:xfrm>
          <a:prstGeom prst="rect">
            <a:avLst/>
          </a:prstGeom>
          <a:noFill/>
        </p:spPr>
        <p:txBody>
          <a:bodyPr wrap="square" lIns="45720" tIns="27432" rIns="45720" bIns="27432" anchor="t">
            <a:normAutofit/>
          </a:bodyPr>
          <a:lstStyle/>
          <a:p>
            <a:pPr algn="l">
              <a:spcBef>
                <a:spcPts val="0"/>
              </a:spcBef>
              <a:spcAft>
                <a:spcPts val="0"/>
              </a:spcAft>
              <a:buNone/>
            </a:pPr>
            <a:r>
              <a:rPr lang="en-US" sz="1200" b="0" i="0" dirty="0">
                <a:solidFill>
                  <a:srgbClr val="5B2C91"/>
                </a:solidFill>
                <a:latin typeface="Poppins"/>
                <a:ea typeface="Poppins"/>
                <a:cs typeface="Poppins"/>
              </a:rPr>
              <a:t>UCI dataset 401 · TCGA RNA-Seq (HiSeq) · 801 tumours × 20,531 genes [1]</a:t>
            </a:r>
          </a:p>
        </p:txBody>
      </p:sp>
      <p:sp>
        <p:nvSpPr>
          <p:cNvPr id="1103" name="Caption"/>
          <p:cNvSpPr txBox="1"/>
          <p:nvPr/>
        </p:nvSpPr>
        <p:spPr>
          <a:xfrm>
            <a:off x="7095744" y="3611880"/>
            <a:ext cx="1965960" cy="68580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2. Samples per tumour type; COAD is the smallest class.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0664" y="640080"/>
            <a:ext cx="4114800" cy="114300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3000" b="0" i="0" dirty="0">
                <a:solidFill>
                  <a:srgbClr val="17173A"/>
                </a:solidFill>
                <a:latin typeface="Kanit"/>
                <a:ea typeface="Kanit"/>
                <a:cs typeface="Kanit"/>
              </a:rPr>
              <a:t>1. Introduction:</a:t>
            </a:r>
          </a:p>
          <a:p>
            <a:pPr algn="l">
              <a:spcBef>
                <a:spcPts val="0"/>
              </a:spcBef>
              <a:spcAft>
                <a:spcPts val="0"/>
              </a:spcAft>
              <a:buNone/>
            </a:pPr>
            <a:r>
              <a:rPr lang="en-US" sz="3000" b="0" i="0" dirty="0">
                <a:solidFill>
                  <a:srgbClr val="17173A"/>
                </a:solidFill>
                <a:latin typeface="Kanit"/>
                <a:ea typeface="Kanit"/>
                <a:cs typeface="Kanit"/>
              </a:rPr>
              <a:t>Research Questions</a:t>
            </a:r>
          </a:p>
        </p:txBody>
      </p:sp>
      <p:sp>
        <p:nvSpPr>
          <p:cNvPr id="3" name="Text 1"/>
          <p:cNvSpPr/>
          <p:nvPr/>
        </p:nvSpPr>
        <p:spPr>
          <a:xfrm>
            <a:off x="740664" y="2148840"/>
            <a:ext cx="4160520" cy="2286000"/>
          </a:xfrm>
          <a:prstGeom prst="rect">
            <a:avLst/>
          </a:prstGeom>
          <a:noFill/>
          <a:ln/>
        </p:spPr>
        <p:txBody>
          <a:bodyPr wrap="square" lIns="68580" tIns="34290" rIns="68580" bIns="34290" rtlCol="0" anchor="t">
            <a:normAutofit/>
          </a:bodyPr>
          <a:lstStyle/>
          <a:p>
            <a:pPr algn="l">
              <a:spcBef>
                <a:spcPts val="0"/>
              </a:spcBef>
              <a:spcAft>
                <a:spcPts val="1000"/>
              </a:spcAft>
              <a:buNone/>
            </a:pPr>
            <a:r>
              <a:rPr lang="en-US" sz="1300" b="1" i="0" dirty="0">
                <a:solidFill>
                  <a:srgbClr val="5B2C91"/>
                </a:solidFill>
                <a:latin typeface="Poppins"/>
                <a:ea typeface="Poppins"/>
                <a:cs typeface="Poppins"/>
              </a:rPr>
              <a:t>RQ1</a:t>
            </a:r>
            <a:r>
              <a:rPr lang="en-US" sz="1300" b="0" i="0" dirty="0">
                <a:solidFill>
                  <a:srgbClr val="17173A"/>
                </a:solidFill>
                <a:latin typeface="Poppins"/>
                <a:ea typeface="Poppins"/>
                <a:cs typeface="Poppins"/>
              </a:rPr>
              <a:t>  How much does selecting genes on all data change accuracy here?</a:t>
            </a:r>
          </a:p>
          <a:p>
            <a:pPr algn="l">
              <a:spcBef>
                <a:spcPts val="0"/>
              </a:spcBef>
              <a:spcAft>
                <a:spcPts val="1000"/>
              </a:spcAft>
              <a:buNone/>
            </a:pPr>
            <a:r>
              <a:rPr lang="en-US" sz="1300" b="1" i="0" dirty="0">
                <a:solidFill>
                  <a:srgbClr val="5B2C91"/>
                </a:solidFill>
                <a:latin typeface="Poppins"/>
                <a:ea typeface="Poppins"/>
                <a:cs typeface="Poppins"/>
              </a:rPr>
              <a:t>RQ2</a:t>
            </a:r>
            <a:r>
              <a:rPr lang="en-US" sz="1300" b="0" i="0" dirty="0">
                <a:solidFill>
                  <a:srgbClr val="17173A"/>
                </a:solidFill>
                <a:latin typeface="Poppins"/>
                <a:ea typeface="Poppins"/>
                <a:cs typeface="Poppins"/>
              </a:rPr>
              <a:t>  Do any of seven classifiers differ, and which are equivalent?</a:t>
            </a:r>
          </a:p>
          <a:p>
            <a:pPr algn="l">
              <a:spcBef>
                <a:spcPts val="0"/>
              </a:spcBef>
              <a:spcAft>
                <a:spcPts val="1000"/>
              </a:spcAft>
              <a:buNone/>
            </a:pPr>
            <a:r>
              <a:rPr lang="en-US" sz="1300" b="1" i="0" dirty="0">
                <a:solidFill>
                  <a:srgbClr val="5B2C91"/>
                </a:solidFill>
                <a:latin typeface="Poppins"/>
                <a:ea typeface="Poppins"/>
                <a:cs typeface="Poppins"/>
              </a:rPr>
              <a:t>RQ3</a:t>
            </a:r>
            <a:r>
              <a:rPr lang="en-US" sz="1300" b="0" i="0" dirty="0">
                <a:solidFill>
                  <a:srgbClr val="17173A"/>
                </a:solidFill>
                <a:latin typeface="Poppins"/>
                <a:ea typeface="Poppins"/>
                <a:cs typeface="Poppins"/>
              </a:rPr>
              <a:t>  Calibrated, abstaining when unsure? How much data is needed?</a:t>
            </a:r>
          </a:p>
        </p:txBody>
      </p:sp>
      <p:sp>
        <p:nvSpPr>
          <p:cNvPr id="4" name="Shape 2"/>
          <p:cNvSpPr/>
          <p:nvPr/>
        </p:nvSpPr>
        <p:spPr>
          <a:xfrm>
            <a:off x="5010912" y="0"/>
            <a:ext cx="0" cy="4596689"/>
          </a:xfrm>
          <a:prstGeom prst="line">
            <a:avLst/>
          </a:prstGeom>
          <a:noFill/>
          <a:ln w="19050">
            <a:solidFill>
              <a:srgbClr val="17173A"/>
            </a:solidFill>
            <a:prstDash val="solid"/>
          </a:ln>
        </p:spPr>
        <p:txBody>
          <a:bodyPr/>
          <a:p/>
        </p:txBody>
      </p:sp>
      <p:sp>
        <p:nvSpPr>
          <p:cNvPr id="5" name="Shape 3"/>
          <p:cNvSpPr/>
          <p:nvPr/>
        </p:nvSpPr>
        <p:spPr>
          <a:xfrm>
            <a:off x="5010912" y="2298802"/>
            <a:ext cx="4133088" cy="0"/>
          </a:xfrm>
          <a:prstGeom prst="line">
            <a:avLst/>
          </a:prstGeom>
          <a:noFill/>
          <a:ln w="19050">
            <a:solidFill>
              <a:srgbClr val="17173A"/>
            </a:solidFill>
            <a:prstDash val="solid"/>
          </a:ln>
        </p:spPr>
        <p:txBody>
          <a:bodyPr/>
          <a:p/>
        </p:txBody>
      </p:sp>
      <p:sp>
        <p:nvSpPr>
          <p:cNvPr id="6" name="Text 4"/>
          <p:cNvSpPr/>
          <p:nvPr/>
        </p:nvSpPr>
        <p:spPr>
          <a:xfrm>
            <a:off x="5565953" y="685800"/>
            <a:ext cx="3337560" cy="45720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200" b="0" i="0" dirty="0">
                <a:solidFill>
                  <a:srgbClr val="17173A"/>
                </a:solidFill>
                <a:latin typeface="Kanit"/>
                <a:ea typeface="Kanit"/>
                <a:cs typeface="Kanit"/>
              </a:rPr>
              <a:t>Common practice</a:t>
            </a:r>
          </a:p>
        </p:txBody>
      </p:sp>
      <p:sp>
        <p:nvSpPr>
          <p:cNvPr id="7" name="Text 5"/>
          <p:cNvSpPr/>
          <p:nvPr/>
        </p:nvSpPr>
        <p:spPr>
          <a:xfrm>
            <a:off x="5565953" y="1188720"/>
            <a:ext cx="3337560" cy="868680"/>
          </a:xfrm>
          <a:prstGeom prst="rect">
            <a:avLst/>
          </a:prstGeom>
          <a:noFill/>
          <a:ln/>
        </p:spPr>
        <p:txBody>
          <a:bodyPr wrap="square" lIns="68580" tIns="34290" rIns="68580" bIns="34290" rtlCol="0" anchor="t">
            <a:normAutofit/>
          </a:bodyPr>
          <a:lstStyle/>
          <a:p>
            <a:pPr algn="l">
              <a:spcBef>
                <a:spcPts val="0"/>
              </a:spcBef>
              <a:spcAft>
                <a:spcPts val="600"/>
              </a:spcAft>
              <a:buNone/>
            </a:pPr>
            <a:r>
              <a:rPr lang="en-US" sz="1200" b="0" i="0" dirty="0">
                <a:solidFill>
                  <a:srgbClr val="17173A"/>
                </a:solidFill>
                <a:latin typeface="Poppins"/>
                <a:ea typeface="Poppins"/>
                <a:cs typeface="Poppins"/>
              </a:rPr>
              <a:t>Select genes on all 801 samples, then split.</a:t>
            </a:r>
          </a:p>
          <a:p>
            <a:pPr algn="l">
              <a:spcBef>
                <a:spcPts val="0"/>
              </a:spcBef>
              <a:spcAft>
                <a:spcPts val="0"/>
              </a:spcAft>
              <a:buNone/>
            </a:pPr>
            <a:r>
              <a:rPr lang="en-US" sz="1200" b="0" i="0" dirty="0">
                <a:solidFill>
                  <a:srgbClr val="17173A"/>
                </a:solidFill>
                <a:latin typeface="Poppins"/>
                <a:ea typeface="Poppins"/>
                <a:cs typeface="Poppins"/>
              </a:rPr>
              <a:t>Single split; winner declared without a test.</a:t>
            </a:r>
          </a:p>
        </p:txBody>
      </p:sp>
      <p:sp>
        <p:nvSpPr>
          <p:cNvPr id="8" name="Text 6"/>
          <p:cNvSpPr/>
          <p:nvPr/>
        </p:nvSpPr>
        <p:spPr>
          <a:xfrm>
            <a:off x="5565953" y="2697480"/>
            <a:ext cx="3337560" cy="45720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200" b="0" i="0" dirty="0">
                <a:solidFill>
                  <a:srgbClr val="17173A"/>
                </a:solidFill>
                <a:latin typeface="Kanit"/>
                <a:ea typeface="Kanit"/>
                <a:cs typeface="Kanit"/>
              </a:rPr>
              <a:t>This study</a:t>
            </a:r>
          </a:p>
        </p:txBody>
      </p:sp>
      <p:sp>
        <p:nvSpPr>
          <p:cNvPr id="9" name="Text 7"/>
          <p:cNvSpPr/>
          <p:nvPr/>
        </p:nvSpPr>
        <p:spPr>
          <a:xfrm>
            <a:off x="5565953" y="3200400"/>
            <a:ext cx="3337560" cy="868680"/>
          </a:xfrm>
          <a:prstGeom prst="rect">
            <a:avLst/>
          </a:prstGeom>
          <a:noFill/>
          <a:ln/>
        </p:spPr>
        <p:txBody>
          <a:bodyPr wrap="square" lIns="68580" tIns="34290" rIns="68580" bIns="34290" rtlCol="0" anchor="t">
            <a:normAutofit/>
          </a:bodyPr>
          <a:lstStyle/>
          <a:p>
            <a:pPr algn="l">
              <a:spcBef>
                <a:spcPts val="0"/>
              </a:spcBef>
              <a:spcAft>
                <a:spcPts val="600"/>
              </a:spcAft>
              <a:buNone/>
            </a:pPr>
            <a:r>
              <a:rPr lang="en-US" sz="1200" b="0" i="0" dirty="0">
                <a:solidFill>
                  <a:srgbClr val="17173A"/>
                </a:solidFill>
                <a:latin typeface="Poppins"/>
                <a:ea typeface="Poppins"/>
                <a:cs typeface="Poppins"/>
              </a:rPr>
              <a:t>In-fold selection; leaky variant audited.</a:t>
            </a:r>
          </a:p>
          <a:p>
            <a:pPr algn="l">
              <a:spcBef>
                <a:spcPts val="0"/>
              </a:spcBef>
              <a:spcAft>
                <a:spcPts val="600"/>
              </a:spcAft>
              <a:buNone/>
            </a:pPr>
            <a:r>
              <a:rPr lang="en-US" sz="1200" b="0" i="0" dirty="0">
                <a:solidFill>
                  <a:srgbClr val="17173A"/>
                </a:solidFill>
                <a:latin typeface="Poppins"/>
                <a:ea typeface="Poppins"/>
                <a:cs typeface="Poppins"/>
              </a:rPr>
              <a:t>10×5 repeated CV, corrected CIs.</a:t>
            </a:r>
          </a:p>
          <a:p>
            <a:pPr algn="l">
              <a:spcBef>
                <a:spcPts val="0"/>
              </a:spcBef>
              <a:spcAft>
                <a:spcPts val="0"/>
              </a:spcAft>
              <a:buNone/>
            </a:pPr>
            <a:r>
              <a:rPr lang="en-US" sz="1200" b="0" i="0" dirty="0">
                <a:solidFill>
                  <a:srgbClr val="17173A"/>
                </a:solidFill>
                <a:latin typeface="Poppins"/>
                <a:ea typeface="Poppins"/>
                <a:cs typeface="Poppins"/>
              </a:rPr>
              <a:t>All 21 pairs, Holm, TOST, Bayesian.</a:t>
            </a:r>
          </a:p>
        </p:txBody>
      </p:sp>
      <p:pic>
        <p:nvPicPr>
          <p:cNvPr id="10"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1" name="Shape 8"/>
          <p:cNvSpPr/>
          <p:nvPr/>
        </p:nvSpPr>
        <p:spPr>
          <a:xfrm>
            <a:off x="0" y="4796028"/>
            <a:ext cx="9144000" cy="347472"/>
          </a:xfrm>
          <a:prstGeom prst="rect">
            <a:avLst/>
          </a:prstGeom>
          <a:solidFill>
            <a:srgbClr val="EDE6F8"/>
          </a:solidFill>
          <a:ln/>
        </p:spPr>
        <p:txBody>
          <a:bodyPr/>
          <a:p/>
        </p:txBody>
      </p:sp>
      <p:sp>
        <p:nvSpPr>
          <p:cNvPr id="12" name="Shape 9"/>
          <p:cNvSpPr/>
          <p:nvPr/>
        </p:nvSpPr>
        <p:spPr>
          <a:xfrm>
            <a:off x="0" y="4796028"/>
            <a:ext cx="109728" cy="347472"/>
          </a:xfrm>
          <a:prstGeom prst="rect">
            <a:avLst/>
          </a:prstGeom>
          <a:solidFill>
            <a:srgbClr val="5B2C91"/>
          </a:solidFill>
          <a:ln/>
        </p:spPr>
        <p:txBody>
          <a:bodyPr/>
          <a:p/>
        </p:txBody>
      </p:sp>
      <p:pic>
        <p:nvPicPr>
          <p:cNvPr id="13"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4" name="Text 10"/>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2</a:t>
            </a:r>
            <a:endParaRPr lang="en-US" sz="850" dirty="0"/>
          </a:p>
        </p:txBody>
      </p:sp>
      <p:sp>
        <p:nvSpPr>
          <p:cNvPr id="15" name="Text 11"/>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5 / 16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78485" y="502920"/>
            <a:ext cx="4434840" cy="146304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600" b="0" i="0" dirty="0">
                <a:solidFill>
                  <a:srgbClr val="17173A"/>
                </a:solidFill>
                <a:latin typeface="Kanit"/>
                <a:ea typeface="Kanit"/>
                <a:cs typeface="Kanit"/>
              </a:rPr>
              <a:t>3. Results:</a:t>
            </a:r>
          </a:p>
          <a:p>
            <a:pPr algn="l">
              <a:lnSpc>
                <a:spcPct val="90000"/>
              </a:lnSpc>
              <a:spcBef>
                <a:spcPts val="0"/>
              </a:spcBef>
              <a:spcAft>
                <a:spcPts val="0"/>
              </a:spcAft>
              <a:buNone/>
            </a:pPr>
            <a:r>
              <a:rPr lang="en-US" sz="2600" b="0" i="0" dirty="0">
                <a:solidFill>
                  <a:srgbClr val="17173A"/>
                </a:solidFill>
                <a:latin typeface="Kanit"/>
                <a:ea typeface="Kanit"/>
                <a:cs typeface="Kanit"/>
              </a:rPr>
              <a:t>All Pairwise Comparisons</a:t>
            </a:r>
          </a:p>
        </p:txBody>
      </p:sp>
      <p:sp>
        <p:nvSpPr>
          <p:cNvPr id="3" name="Shape 1"/>
          <p:cNvSpPr/>
          <p:nvPr/>
        </p:nvSpPr>
        <p:spPr>
          <a:xfrm>
            <a:off x="5250485" y="0"/>
            <a:ext cx="0" cy="4596689"/>
          </a:xfrm>
          <a:prstGeom prst="line">
            <a:avLst/>
          </a:prstGeom>
          <a:noFill/>
          <a:ln w="19050">
            <a:solidFill>
              <a:srgbClr val="17173A"/>
            </a:solidFill>
            <a:prstDash val="solid"/>
          </a:ln>
        </p:spPr>
        <p:txBody>
          <a:bodyPr/>
          <a:p/>
        </p:txBody>
      </p:sp>
      <p:sp>
        <p:nvSpPr>
          <p:cNvPr id="6" name="Text 4"/>
          <p:cNvSpPr/>
          <p:nvPr/>
        </p:nvSpPr>
        <p:spPr>
          <a:xfrm>
            <a:off x="5577840" y="685800"/>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All 21</a:t>
            </a:r>
          </a:p>
        </p:txBody>
      </p:sp>
      <p:sp>
        <p:nvSpPr>
          <p:cNvPr id="7" name="Text 5"/>
          <p:cNvSpPr/>
          <p:nvPr/>
        </p:nvSpPr>
        <p:spPr>
          <a:xfrm>
            <a:off x="6675120" y="685800"/>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No pair significant; smallest Holm p = 0.66 (Linear SVM vs Naive Bayes).</a:t>
            </a:r>
          </a:p>
        </p:txBody>
      </p:sp>
      <p:sp>
        <p:nvSpPr>
          <p:cNvPr id="8" name="Text 6"/>
          <p:cNvSpPr/>
          <p:nvPr/>
        </p:nvSpPr>
        <p:spPr>
          <a:xfrm>
            <a:off x="5577840" y="1664208"/>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TOST</a:t>
            </a:r>
          </a:p>
        </p:txBody>
      </p:sp>
      <p:sp>
        <p:nvSpPr>
          <p:cNvPr id="9" name="Text 7"/>
          <p:cNvSpPr/>
          <p:nvPr/>
        </p:nvSpPr>
        <p:spPr>
          <a:xfrm>
            <a:off x="6675120" y="1664208"/>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10 of 15 pairs without naive Bayes equivalent within ±1 pt.</a:t>
            </a:r>
          </a:p>
        </p:txBody>
      </p:sp>
      <p:sp>
        <p:nvSpPr>
          <p:cNvPr id="10" name="Text 8"/>
          <p:cNvSpPr/>
          <p:nvPr/>
        </p:nvSpPr>
        <p:spPr>
          <a:xfrm>
            <a:off x="5577840" y="2642616"/>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Power</a:t>
            </a:r>
          </a:p>
        </p:txBody>
      </p:sp>
      <p:sp>
        <p:nvSpPr>
          <p:cNvPr id="11" name="Text 9"/>
          <p:cNvSpPr/>
          <p:nvPr/>
        </p:nvSpPr>
        <p:spPr>
          <a:xfrm>
            <a:off x="6675120" y="2642616"/>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Detectable difference (80% power): 0.5–1.4 pts.</a:t>
            </a:r>
          </a:p>
        </p:txBody>
      </p:sp>
      <p:sp>
        <p:nvSpPr>
          <p:cNvPr id="12" name="Text 10"/>
          <p:cNvSpPr/>
          <p:nvPr/>
        </p:nvSpPr>
        <p:spPr>
          <a:xfrm>
            <a:off x="5577840" y="3621024"/>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Meaning</a:t>
            </a:r>
          </a:p>
        </p:txBody>
      </p:sp>
      <p:sp>
        <p:nvSpPr>
          <p:cNvPr id="13" name="Text 11"/>
          <p:cNvSpPr/>
          <p:nvPr/>
        </p:nvSpPr>
        <p:spPr>
          <a:xfrm>
            <a:off x="6675120" y="3621024"/>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No winner; most pairs equivalent; naive Bayes probably slightly worse.</a:t>
            </a:r>
          </a:p>
        </p:txBody>
      </p:sp>
      <p:pic>
        <p:nvPicPr>
          <p:cNvPr id="1106" name="Figure 3" descr="s_paired.png"/>
          <p:cNvPicPr>
            <a:picLocks noChangeAspect="1"/>
          </p:cNvPicPr>
          <p:nvPr/>
        </p:nvPicPr>
        <p:blipFill>
          <a:blip r:embed="rId7"/>
          <a:stretch>
            <a:fillRect/>
          </a:stretch>
        </p:blipFill>
        <p:spPr>
          <a:xfrm>
            <a:off x="182880" y="2057400"/>
            <a:ext cx="4892040" cy="1920240"/>
          </a:xfrm>
          <a:prstGeom prst="rect">
            <a:avLst/>
          </a:prstGeom>
        </p:spPr>
      </p:pic>
      <p:pic>
        <p:nvPicPr>
          <p:cNvPr id="14"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5" name="Shape 12"/>
          <p:cNvSpPr/>
          <p:nvPr/>
        </p:nvSpPr>
        <p:spPr>
          <a:xfrm>
            <a:off x="0" y="4796028"/>
            <a:ext cx="9144000" cy="347472"/>
          </a:xfrm>
          <a:prstGeom prst="rect">
            <a:avLst/>
          </a:prstGeom>
          <a:solidFill>
            <a:srgbClr val="EDE6F8"/>
          </a:solidFill>
          <a:ln/>
        </p:spPr>
        <p:txBody>
          <a:bodyPr/>
          <a:p/>
        </p:txBody>
      </p:sp>
      <p:sp>
        <p:nvSpPr>
          <p:cNvPr id="16" name="Shape 13"/>
          <p:cNvSpPr/>
          <p:nvPr/>
        </p:nvSpPr>
        <p:spPr>
          <a:xfrm>
            <a:off x="0" y="4796028"/>
            <a:ext cx="109728" cy="347472"/>
          </a:xfrm>
          <a:prstGeom prst="rect">
            <a:avLst/>
          </a:prstGeom>
          <a:solidFill>
            <a:srgbClr val="5B2C91"/>
          </a:solidFill>
          <a:ln/>
        </p:spPr>
        <p:txBody>
          <a:bodyPr/>
          <a:p/>
        </p:txBody>
      </p:sp>
      <p:pic>
        <p:nvPicPr>
          <p:cNvPr id="17"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8" name="Text 14"/>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2</a:t>
            </a:r>
            <a:endParaRPr lang="en-US" sz="850" dirty="0"/>
          </a:p>
        </p:txBody>
      </p:sp>
      <p:sp>
        <p:nvSpPr>
          <p:cNvPr id="19" name="Text 15"/>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9 / 16</a:t>
            </a:r>
            <a:endParaRPr lang="en-US" sz="850" dirty="0"/>
          </a:p>
        </p:txBody>
      </p:sp>
      <p:sp>
        <p:nvSpPr>
          <p:cNvPr id="1105" name="Caption"/>
          <p:cNvSpPr txBox="1"/>
          <p:nvPr/>
        </p:nvSpPr>
        <p:spPr>
          <a:xfrm>
            <a:off x="182880" y="4041648"/>
            <a:ext cx="4892040" cy="41148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5. Δ macro-F1 for all pairs (row − column); ≈ : equivalent within ±1 pt (TOST, Holm).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20878" y="457200"/>
            <a:ext cx="4480560" cy="105156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3000" b="0" i="0" dirty="0">
                <a:solidFill>
                  <a:srgbClr val="FFFFFF"/>
                </a:solidFill>
                <a:latin typeface="Kanit"/>
                <a:ea typeface="Kanit"/>
                <a:cs typeface="Kanit"/>
              </a:rPr>
              <a:t>4. Results:</a:t>
            </a:r>
          </a:p>
          <a:p>
            <a:pPr algn="l">
              <a:spcBef>
                <a:spcPts val="0"/>
              </a:spcBef>
              <a:spcAft>
                <a:spcPts val="0"/>
              </a:spcAft>
              <a:buNone/>
            </a:pPr>
            <a:r>
              <a:rPr lang="en-US" sz="3000" b="0" i="0" dirty="0">
                <a:solidFill>
                  <a:srgbClr val="FFFFFF"/>
                </a:solidFill>
                <a:latin typeface="Kanit"/>
                <a:ea typeface="Kanit"/>
                <a:cs typeface="Kanit"/>
              </a:rPr>
              <a:t>How Much Data?</a:t>
            </a:r>
          </a:p>
        </p:txBody>
      </p:sp>
      <p:sp>
        <p:nvSpPr>
          <p:cNvPr id="3" name="Text 1"/>
          <p:cNvSpPr/>
          <p:nvPr/>
        </p:nvSpPr>
        <p:spPr>
          <a:xfrm>
            <a:off x="620878" y="1645920"/>
            <a:ext cx="4343400" cy="68580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300" b="0" i="0" dirty="0">
                <a:solidFill>
                  <a:srgbClr val="FFFFFF"/>
                </a:solidFill>
                <a:latin typeface="Poppins"/>
                <a:ea typeface="Poppins"/>
                <a:cs typeface="Poppins"/>
              </a:rPr>
              <a:t>Linear models: 99.4% macro-F1 (±0.2) with 10 tumours per class.</a:t>
            </a:r>
          </a:p>
        </p:txBody>
      </p:sp>
      <p:sp>
        <p:nvSpPr>
          <p:cNvPr id="6" name="Text 4"/>
          <p:cNvSpPr/>
          <p:nvPr/>
        </p:nvSpPr>
        <p:spPr>
          <a:xfrm>
            <a:off x="620878" y="2606040"/>
            <a:ext cx="1280160" cy="36576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500" b="0" i="0" dirty="0">
                <a:solidFill>
                  <a:srgbClr val="F1D5EC"/>
                </a:solidFill>
                <a:latin typeface="Kanit"/>
                <a:ea typeface="Kanit"/>
                <a:cs typeface="Kanit"/>
              </a:rPr>
              <a:t>Learning</a:t>
            </a:r>
          </a:p>
        </p:txBody>
      </p:sp>
      <p:sp>
        <p:nvSpPr>
          <p:cNvPr id="7" name="Text 5"/>
          <p:cNvSpPr/>
          <p:nvPr/>
        </p:nvSpPr>
        <p:spPr>
          <a:xfrm>
            <a:off x="1965960" y="2606040"/>
            <a:ext cx="3017520" cy="73152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3 per class: macro-F1 softmax 98.1 ± 0.7%; naive Bayes 71.4%.</a:t>
            </a:r>
          </a:p>
        </p:txBody>
      </p:sp>
      <p:sp>
        <p:nvSpPr>
          <p:cNvPr id="8" name="Text 6"/>
          <p:cNvSpPr/>
          <p:nvPr/>
        </p:nvSpPr>
        <p:spPr>
          <a:xfrm>
            <a:off x="620878" y="3474720"/>
            <a:ext cx="1280160" cy="36576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500" b="0" i="0" dirty="0">
                <a:solidFill>
                  <a:srgbClr val="F1D5EC"/>
                </a:solidFill>
                <a:latin typeface="Kanit"/>
                <a:ea typeface="Kanit"/>
                <a:cs typeface="Kanit"/>
              </a:rPr>
              <a:t>Leakage</a:t>
            </a:r>
          </a:p>
        </p:txBody>
      </p:sp>
      <p:sp>
        <p:nvSpPr>
          <p:cNvPr id="9" name="Text 7"/>
          <p:cNvSpPr/>
          <p:nvPr/>
        </p:nvSpPr>
        <p:spPr>
          <a:xfrm>
            <a:off x="1965960" y="3474720"/>
            <a:ext cx="3017520" cy="73152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Bias on noise: 65 ± 5 pts at n = 30, 14 ± 2 at n = 390 [9].</a:t>
            </a:r>
          </a:p>
        </p:txBody>
      </p:sp>
      <p:pic>
        <p:nvPicPr>
          <p:cNvPr id="1303" name="Figure 4" descr="s_efficiency.png"/>
          <p:cNvPicPr>
            <a:picLocks noChangeAspect="1"/>
          </p:cNvPicPr>
          <p:nvPr/>
        </p:nvPicPr>
        <p:blipFill>
          <a:blip r:embed="rId7"/>
          <a:stretch>
            <a:fillRect/>
          </a:stretch>
        </p:blipFill>
        <p:spPr>
          <a:xfrm>
            <a:off x="5350448" y="731520"/>
            <a:ext cx="3609463" cy="2384987"/>
          </a:xfrm>
          <a:prstGeom prst="rect">
            <a:avLst/>
          </a:prstGeom>
        </p:spPr>
      </p:pic>
      <p:pic>
        <p:nvPicPr>
          <p:cNvPr id="10"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1" name="Shape 8"/>
          <p:cNvSpPr/>
          <p:nvPr/>
        </p:nvSpPr>
        <p:spPr>
          <a:xfrm>
            <a:off x="0" y="4796028"/>
            <a:ext cx="9144000" cy="347472"/>
          </a:xfrm>
          <a:prstGeom prst="rect">
            <a:avLst/>
          </a:prstGeom>
          <a:solidFill>
            <a:srgbClr val="EDE6F8"/>
          </a:solidFill>
          <a:ln/>
        </p:spPr>
        <p:txBody>
          <a:bodyPr/>
          <a:p/>
        </p:txBody>
      </p:sp>
      <p:sp>
        <p:nvSpPr>
          <p:cNvPr id="12" name="Shape 9"/>
          <p:cNvSpPr/>
          <p:nvPr/>
        </p:nvSpPr>
        <p:spPr>
          <a:xfrm>
            <a:off x="0" y="4796028"/>
            <a:ext cx="109728" cy="347472"/>
          </a:xfrm>
          <a:prstGeom prst="rect">
            <a:avLst/>
          </a:prstGeom>
          <a:solidFill>
            <a:srgbClr val="5B2C91"/>
          </a:solidFill>
          <a:ln/>
        </p:spPr>
        <p:txBody>
          <a:bodyPr/>
          <a:p/>
        </p:txBody>
      </p:sp>
      <p:pic>
        <p:nvPicPr>
          <p:cNvPr id="13"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4" name="Text 10"/>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2</a:t>
            </a:r>
            <a:endParaRPr lang="en-US" sz="850" dirty="0"/>
          </a:p>
        </p:txBody>
      </p:sp>
      <p:sp>
        <p:nvSpPr>
          <p:cNvPr id="15" name="Text 11"/>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11 / 16</a:t>
            </a:r>
            <a:endParaRPr lang="en-US" sz="850" dirty="0"/>
          </a:p>
        </p:txBody>
      </p:sp>
      <p:sp>
        <p:nvSpPr>
          <p:cNvPr id="1302" name="Caption"/>
          <p:cNvSpPr txBox="1"/>
          <p:nvPr/>
        </p:nvSpPr>
        <p:spPr>
          <a:xfrm>
            <a:off x="5349240" y="3189659"/>
            <a:ext cx="3611880" cy="45720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D9D2F3"/>
                </a:solidFill>
                <a:latin typeface="Poppins"/>
                <a:ea typeface="Poppins"/>
                <a:cs typeface="Poppins"/>
              </a:rPr>
              <a:t>Fig. 7. Learning curves; leakage bias vs n (95% CI).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93115" y="384048"/>
            <a:ext cx="6217920" cy="566928"/>
          </a:xfrm>
          <a:prstGeom prst="rect">
            <a:avLst/>
          </a:prstGeom>
          <a:noFill/>
          <a:ln/>
        </p:spPr>
        <p:txBody>
          <a:bodyPr wrap="square" lIns="68580" tIns="34290" rIns="68580" bIns="34290" rtlCol="0" anchor="b">
            <a:normAutofit/>
          </a:bodyPr>
          <a:lstStyle/>
          <a:p>
            <a:pPr algn="l">
              <a:spcBef>
                <a:spcPts val="0"/>
              </a:spcBef>
              <a:spcAft>
                <a:spcPts val="0"/>
              </a:spcAft>
              <a:buNone/>
            </a:pPr>
            <a:r>
              <a:rPr lang="en-US" sz="2800" b="0" i="0" dirty="0">
                <a:solidFill>
                  <a:srgbClr val="17173A"/>
                </a:solidFill>
                <a:latin typeface="Kanit"/>
                <a:ea typeface="Kanit"/>
                <a:cs typeface="Kanit"/>
              </a:rPr>
              <a:t>2. Methodology</a:t>
            </a:r>
          </a:p>
        </p:txBody>
      </p:sp>
      <p:sp>
        <p:nvSpPr>
          <p:cNvPr id="3" name="Shape 1"/>
          <p:cNvSpPr/>
          <p:nvPr/>
        </p:nvSpPr>
        <p:spPr>
          <a:xfrm>
            <a:off x="0" y="1481328"/>
            <a:ext cx="7001561" cy="0"/>
          </a:xfrm>
          <a:prstGeom prst="line">
            <a:avLst/>
          </a:prstGeom>
          <a:noFill/>
          <a:ln w="19050">
            <a:solidFill>
              <a:srgbClr val="17173A"/>
            </a:solidFill>
            <a:prstDash val="solid"/>
          </a:ln>
        </p:spPr>
        <p:txBody>
          <a:bodyPr/>
          <a:p/>
        </p:txBody>
      </p:sp>
      <p:sp>
        <p:nvSpPr>
          <p:cNvPr id="4" name="Shape 2"/>
          <p:cNvSpPr/>
          <p:nvPr/>
        </p:nvSpPr>
        <p:spPr>
          <a:xfrm>
            <a:off x="0" y="3039466"/>
            <a:ext cx="7001561" cy="0"/>
          </a:xfrm>
          <a:prstGeom prst="line">
            <a:avLst/>
          </a:prstGeom>
          <a:noFill/>
          <a:ln w="19050">
            <a:solidFill>
              <a:srgbClr val="17173A"/>
            </a:solidFill>
            <a:prstDash val="solid"/>
          </a:ln>
        </p:spPr>
        <p:txBody>
          <a:bodyPr/>
          <a:p/>
        </p:txBody>
      </p:sp>
      <p:sp>
        <p:nvSpPr>
          <p:cNvPr id="5" name="Shape 3"/>
          <p:cNvSpPr/>
          <p:nvPr/>
        </p:nvSpPr>
        <p:spPr>
          <a:xfrm>
            <a:off x="7001561" y="0"/>
            <a:ext cx="0" cy="4596689"/>
          </a:xfrm>
          <a:prstGeom prst="line">
            <a:avLst/>
          </a:prstGeom>
          <a:noFill/>
          <a:ln w="19050">
            <a:solidFill>
              <a:srgbClr val="17173A"/>
            </a:solidFill>
            <a:prstDash val="solid"/>
          </a:ln>
        </p:spPr>
        <p:txBody>
          <a:bodyPr/>
          <a:p/>
        </p:txBody>
      </p:sp>
      <p:sp>
        <p:nvSpPr>
          <p:cNvPr id="6" name="Shape 4"/>
          <p:cNvSpPr/>
          <p:nvPr/>
        </p:nvSpPr>
        <p:spPr>
          <a:xfrm>
            <a:off x="3500323" y="1481328"/>
            <a:ext cx="0" cy="3115361"/>
          </a:xfrm>
          <a:prstGeom prst="line">
            <a:avLst/>
          </a:prstGeom>
          <a:noFill/>
          <a:ln w="19050">
            <a:solidFill>
              <a:srgbClr val="17173A"/>
            </a:solidFill>
            <a:prstDash val="solid"/>
          </a:ln>
        </p:spPr>
        <p:txBody>
          <a:bodyPr/>
          <a:p/>
        </p:txBody>
      </p:sp>
      <p:sp>
        <p:nvSpPr>
          <p:cNvPr id="9" name="Text 7"/>
          <p:cNvSpPr/>
          <p:nvPr/>
        </p:nvSpPr>
        <p:spPr>
          <a:xfrm>
            <a:off x="706831" y="1797710"/>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Pipeline</a:t>
            </a:r>
          </a:p>
        </p:txBody>
      </p:sp>
      <p:sp>
        <p:nvSpPr>
          <p:cNvPr id="10" name="Text 8"/>
          <p:cNvSpPr/>
          <p:nvPr/>
        </p:nvSpPr>
        <p:spPr>
          <a:xfrm>
            <a:off x="706831" y="2236622"/>
            <a:ext cx="2697480" cy="77724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Per training fold: drop constant genes, ANOVA top-100, z-score.</a:t>
            </a:r>
          </a:p>
        </p:txBody>
      </p:sp>
      <p:sp>
        <p:nvSpPr>
          <p:cNvPr id="11" name="Text 9"/>
          <p:cNvSpPr/>
          <p:nvPr/>
        </p:nvSpPr>
        <p:spPr>
          <a:xfrm>
            <a:off x="4022446" y="1797710"/>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Models</a:t>
            </a:r>
          </a:p>
        </p:txBody>
      </p:sp>
      <p:sp>
        <p:nvSpPr>
          <p:cNvPr id="12" name="Text 10"/>
          <p:cNvSpPr/>
          <p:nvPr/>
        </p:nvSpPr>
        <p:spPr>
          <a:xfrm>
            <a:off x="4022446" y="2236622"/>
            <a:ext cx="2697480" cy="77724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Softmax, ridge, linear SVM, naive Bayes, RF, LightGBM, MLP; majority baseline.</a:t>
            </a:r>
          </a:p>
        </p:txBody>
      </p:sp>
      <p:sp>
        <p:nvSpPr>
          <p:cNvPr id="13" name="Text 11"/>
          <p:cNvSpPr/>
          <p:nvPr/>
        </p:nvSpPr>
        <p:spPr>
          <a:xfrm>
            <a:off x="706831" y="3328416"/>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Evaluation</a:t>
            </a:r>
          </a:p>
        </p:txBody>
      </p:sp>
      <p:sp>
        <p:nvSpPr>
          <p:cNvPr id="14" name="Text 12"/>
          <p:cNvSpPr/>
          <p:nvPr/>
        </p:nvSpPr>
        <p:spPr>
          <a:xfrm>
            <a:off x="706831" y="3767328"/>
            <a:ext cx="2697480" cy="77724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10×5 repeated stratified CV (50 folds); accuracy, macro-F1, ROC-AUC.</a:t>
            </a:r>
          </a:p>
        </p:txBody>
      </p:sp>
      <p:sp>
        <p:nvSpPr>
          <p:cNvPr id="15" name="Text 13"/>
          <p:cNvSpPr/>
          <p:nvPr/>
        </p:nvSpPr>
        <p:spPr>
          <a:xfrm>
            <a:off x="4022446" y="3328416"/>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Statistics</a:t>
            </a:r>
          </a:p>
        </p:txBody>
      </p:sp>
      <p:sp>
        <p:nvSpPr>
          <p:cNvPr id="16" name="Text 14"/>
          <p:cNvSpPr/>
          <p:nvPr/>
        </p:nvSpPr>
        <p:spPr>
          <a:xfrm>
            <a:off x="4022446" y="3767328"/>
            <a:ext cx="2697480" cy="77724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Corrected CIs [4]; all 21 pairs (Holm); TOST ±1 pt; Bayesian ROPE.</a:t>
            </a:r>
          </a:p>
        </p:txBody>
      </p:sp>
      <p:pic>
        <p:nvPicPr>
          <p:cNvPr id="1306" name="Figure 5" descr="s_pipeline.png"/>
          <p:cNvPicPr>
            <a:picLocks noChangeAspect="1"/>
          </p:cNvPicPr>
          <p:nvPr/>
        </p:nvPicPr>
        <p:blipFill>
          <a:blip r:embed="rId7"/>
          <a:stretch>
            <a:fillRect/>
          </a:stretch>
        </p:blipFill>
        <p:spPr>
          <a:xfrm>
            <a:off x="7095744" y="668654"/>
            <a:ext cx="1965960" cy="2435328"/>
          </a:xfrm>
          <a:prstGeom prst="rect">
            <a:avLst/>
          </a:prstGeom>
        </p:spPr>
      </p:pic>
      <p:pic>
        <p:nvPicPr>
          <p:cNvPr id="17"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8" name="Shape 15"/>
          <p:cNvSpPr/>
          <p:nvPr/>
        </p:nvSpPr>
        <p:spPr>
          <a:xfrm>
            <a:off x="0" y="4796028"/>
            <a:ext cx="9144000" cy="347472"/>
          </a:xfrm>
          <a:prstGeom prst="rect">
            <a:avLst/>
          </a:prstGeom>
          <a:solidFill>
            <a:srgbClr val="EDE6F8"/>
          </a:solidFill>
          <a:ln/>
        </p:spPr>
        <p:txBody>
          <a:bodyPr/>
          <a:p/>
        </p:txBody>
      </p:sp>
      <p:sp>
        <p:nvSpPr>
          <p:cNvPr id="19" name="Shape 16"/>
          <p:cNvSpPr/>
          <p:nvPr/>
        </p:nvSpPr>
        <p:spPr>
          <a:xfrm>
            <a:off x="0" y="4796028"/>
            <a:ext cx="109728" cy="347472"/>
          </a:xfrm>
          <a:prstGeom prst="rect">
            <a:avLst/>
          </a:prstGeom>
          <a:solidFill>
            <a:srgbClr val="5B2C91"/>
          </a:solidFill>
          <a:ln/>
        </p:spPr>
        <p:txBody>
          <a:bodyPr/>
          <a:p/>
        </p:txBody>
      </p:sp>
      <p:pic>
        <p:nvPicPr>
          <p:cNvPr id="20"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21" name="Text 17"/>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2</a:t>
            </a:r>
            <a:endParaRPr lang="en-US" sz="850" dirty="0"/>
          </a:p>
        </p:txBody>
      </p:sp>
      <p:sp>
        <p:nvSpPr>
          <p:cNvPr id="22" name="Text 18"/>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6 / 16</a:t>
            </a:r>
            <a:endParaRPr lang="en-US" sz="850" dirty="0"/>
          </a:p>
        </p:txBody>
      </p:sp>
      <p:sp>
        <p:nvSpPr>
          <p:cNvPr id="1303" name="Facts"/>
          <p:cNvSpPr txBox="1"/>
          <p:nvPr/>
        </p:nvSpPr>
        <p:spPr>
          <a:xfrm>
            <a:off x="693115" y="969264"/>
            <a:ext cx="6217920" cy="384048"/>
          </a:xfrm>
          <a:prstGeom prst="rect">
            <a:avLst/>
          </a:prstGeom>
          <a:noFill/>
        </p:spPr>
        <p:txBody>
          <a:bodyPr wrap="square" lIns="45720" tIns="27432" rIns="45720" bIns="27432" anchor="t">
            <a:normAutofit/>
          </a:bodyPr>
          <a:lstStyle/>
          <a:p>
            <a:pPr algn="l">
              <a:spcBef>
                <a:spcPts val="0"/>
              </a:spcBef>
              <a:spcAft>
                <a:spcPts val="0"/>
              </a:spcAft>
              <a:buNone/>
            </a:pPr>
            <a:r>
              <a:rPr lang="en-US" sz="1200" b="0" i="0" dirty="0">
                <a:solidFill>
                  <a:srgbClr val="5B2C91"/>
                </a:solidFill>
                <a:latin typeface="Poppins"/>
                <a:ea typeface="Poppins"/>
                <a:cs typeface="Poppins"/>
              </a:rPr>
              <a:t>Macro-F1 primary · identical splits for all models · no tuning</a:t>
            </a:r>
          </a:p>
        </p:txBody>
      </p:sp>
      <p:sp>
        <p:nvSpPr>
          <p:cNvPr id="1305" name="Caption"/>
          <p:cNvSpPr txBox="1"/>
          <p:nvPr/>
        </p:nvSpPr>
        <p:spPr>
          <a:xfrm>
            <a:off x="7095744" y="3169132"/>
            <a:ext cx="1965960" cy="68580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3. Steps refitted inside every training fold.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411480"/>
            <a:ext cx="7132320" cy="68580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2600" b="0" i="0" dirty="0">
                <a:solidFill>
                  <a:srgbClr val="17173A"/>
                </a:solidFill>
                <a:latin typeface="Kanit"/>
                <a:ea typeface="Kanit"/>
                <a:cs typeface="Kanit"/>
              </a:rPr>
              <a:t>3. Results: Leakage-Free Performance</a:t>
            </a:r>
          </a:p>
        </p:txBody>
      </p:sp>
      <p:sp>
        <p:nvSpPr>
          <p:cNvPr id="6" name="Shape 4"/>
          <p:cNvSpPr/>
          <p:nvPr/>
        </p:nvSpPr>
        <p:spPr>
          <a:xfrm>
            <a:off x="4297680" y="1234440"/>
            <a:ext cx="4434840" cy="3383280"/>
          </a:xfrm>
          <a:prstGeom prst="rect">
            <a:avLst/>
          </a:prstGeom>
          <a:solidFill>
            <a:srgbClr val="EEEAFB"/>
          </a:solidFill>
          <a:ln/>
        </p:spPr>
        <p:txBody>
          <a:bodyPr/>
          <a:p/>
        </p:txBody>
      </p:sp>
      <p:pic>
        <p:nvPicPr>
          <p:cNvPr id="1391" name="Figure 6" descr="s_models.png"/>
          <p:cNvPicPr>
            <a:picLocks noChangeAspect="1"/>
          </p:cNvPicPr>
          <p:nvPr/>
        </p:nvPicPr>
        <p:blipFill>
          <a:blip r:embed="rId7"/>
          <a:stretch>
            <a:fillRect/>
          </a:stretch>
        </p:blipFill>
        <p:spPr>
          <a:xfrm>
            <a:off x="4480560" y="1298448"/>
            <a:ext cx="3931920" cy="2697480"/>
          </a:xfrm>
          <a:prstGeom prst="rect">
            <a:avLst/>
          </a:prstGeom>
        </p:spPr>
      </p:pic>
      <p:graphicFrame>
        <p:nvGraphicFramePr>
          <p:cNvPr id="1390" name="Results table"/>
          <p:cNvGraphicFramePr>
            <a:graphicFrameLocks noGrp="1"/>
          </p:cNvGraphicFramePr>
          <p:nvPr/>
        </p:nvGraphicFramePr>
        <p:xfrm>
          <a:off x="411480" y="1188720"/>
          <a:ext cx="3749040" cy="1810512"/>
        </p:xfrm>
        <a:graphic>
          <a:graphicData uri="http://schemas.openxmlformats.org/drawingml/2006/table">
            <a:tbl>
              <a:tblPr firstRow="1"/>
              <a:tblGrid>
                <a:gridCol w="1463040"/>
                <a:gridCol w="1051560"/>
                <a:gridCol w="1234440"/>
              </a:tblGrid>
              <a:tr h="201168">
                <a:tc>
                  <a:txBody>
                    <a:bodyPr/>
                    <a:lstStyle/>
                    <a:p>
                      <a:pPr algn="l">
                        <a:spcBef>
                          <a:spcPts val="0"/>
                        </a:spcBef>
                        <a:spcAft>
                          <a:spcPts val="0"/>
                        </a:spcAft>
                        <a:buNone/>
                      </a:pPr>
                      <a:r>
                        <a:rPr lang="en-US" sz="1200" b="1" i="0" dirty="0">
                          <a:solidFill>
                            <a:srgbClr val="FFFFFF"/>
                          </a:solidFill>
                          <a:latin typeface="Poppins"/>
                          <a:ea typeface="Poppins"/>
                          <a:cs typeface="Poppins"/>
                        </a:rPr>
                        <a:t>Model</a:t>
                      </a:r>
                    </a:p>
                  </a:txBody>
                  <a:tcPr marL="45720" marR="45720" marT="27432" marB="27432" anchor="ctr">
                    <a:lnL w="0">
                      <a:noFill/>
                    </a:lnL>
                    <a:lnR w="0">
                      <a:noFill/>
                    </a:lnR>
                    <a:lnT w="0">
                      <a:noFill/>
                    </a:lnT>
                    <a:lnB w="6350">
                      <a:solidFill>
                        <a:srgbClr val="9A86E6"/>
                      </a:solidFill>
                    </a:lnB>
                    <a:solidFill>
                      <a:srgbClr val="2A2C86"/>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Macro-F1, %</a:t>
                      </a:r>
                    </a:p>
                  </a:txBody>
                  <a:tcPr marL="45720" marR="45720" marT="27432" marB="27432" anchor="ctr">
                    <a:lnL w="0">
                      <a:noFill/>
                    </a:lnL>
                    <a:lnR w="0">
                      <a:noFill/>
                    </a:lnR>
                    <a:lnT w="0">
                      <a:noFill/>
                    </a:lnT>
                    <a:lnB w="6350">
                      <a:solidFill>
                        <a:srgbClr val="9A86E6"/>
                      </a:solidFill>
                    </a:lnB>
                    <a:solidFill>
                      <a:srgbClr val="2A2C86"/>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Errors / 801</a:t>
                      </a:r>
                    </a:p>
                  </a:txBody>
                  <a:tcPr marL="45720" marR="45720" marT="27432" marB="27432" anchor="ctr">
                    <a:lnL w="0">
                      <a:noFill/>
                    </a:lnL>
                    <a:lnR w="0">
                      <a:noFill/>
                    </a:lnR>
                    <a:lnT w="0">
                      <a:noFill/>
                    </a:lnT>
                    <a:lnB w="6350">
                      <a:solidFill>
                        <a:srgbClr val="9A86E6"/>
                      </a:solidFill>
                    </a:lnB>
                    <a:solidFill>
                      <a:srgbClr val="2A2C86"/>
                    </a:solidFill>
                  </a:tcPr>
                </a:tc>
              </a:tr>
              <a:tr h="201168">
                <a:tc>
                  <a:txBody>
                    <a:bodyPr/>
                    <a:lstStyle/>
                    <a:p>
                      <a:pPr algn="l">
                        <a:spcBef>
                          <a:spcPts val="0"/>
                        </a:spcBef>
                        <a:spcAft>
                          <a:spcPts val="0"/>
                        </a:spcAft>
                        <a:buNone/>
                      </a:pPr>
                      <a:r>
                        <a:rPr lang="en-US" sz="1200" b="0" i="0" dirty="0">
                          <a:solidFill>
                            <a:srgbClr val="17173A"/>
                          </a:solidFill>
                          <a:latin typeface="Poppins"/>
                          <a:ea typeface="Poppins"/>
                          <a:cs typeface="Poppins"/>
                        </a:rPr>
                        <a:t>Majority baseline</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10.90</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501.0</a:t>
                      </a:r>
                    </a:p>
                  </a:txBody>
                  <a:tcPr marL="45720" marR="45720" marT="27432" marB="27432" anchor="ctr">
                    <a:lnL w="0">
                      <a:noFill/>
                    </a:lnL>
                    <a:lnR w="0">
                      <a:noFill/>
                    </a:lnR>
                    <a:lnT w="0">
                      <a:noFill/>
                    </a:lnT>
                    <a:lnB w="6350">
                      <a:solidFill>
                        <a:srgbClr val="9A86E6"/>
                      </a:solidFill>
                    </a:lnB>
                    <a:noFill/>
                  </a:tcPr>
                </a:tc>
              </a:tr>
              <a:tr h="201168">
                <a:tc>
                  <a:txBody>
                    <a:bodyPr/>
                    <a:lstStyle/>
                    <a:p>
                      <a:pPr algn="l">
                        <a:spcBef>
                          <a:spcPts val="0"/>
                        </a:spcBef>
                        <a:spcAft>
                          <a:spcPts val="0"/>
                        </a:spcAft>
                        <a:buNone/>
                      </a:pPr>
                      <a:r>
                        <a:rPr lang="en-US" sz="1200" b="0" i="0" dirty="0">
                          <a:solidFill>
                            <a:srgbClr val="17173A"/>
                          </a:solidFill>
                          <a:latin typeface="Poppins"/>
                          <a:ea typeface="Poppins"/>
                          <a:cs typeface="Poppins"/>
                        </a:rPr>
                        <a:t>Softmax</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99.48</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4.2</a:t>
                      </a:r>
                    </a:p>
                  </a:txBody>
                  <a:tcPr marL="45720" marR="45720" marT="27432" marB="27432" anchor="ctr">
                    <a:lnL w="0">
                      <a:noFill/>
                    </a:lnL>
                    <a:lnR w="0">
                      <a:noFill/>
                    </a:lnR>
                    <a:lnT w="0">
                      <a:noFill/>
                    </a:lnT>
                    <a:lnB w="6350">
                      <a:solidFill>
                        <a:srgbClr val="9A86E6"/>
                      </a:solidFill>
                    </a:lnB>
                    <a:noFill/>
                  </a:tcPr>
                </a:tc>
              </a:tr>
              <a:tr h="201168">
                <a:tc>
                  <a:txBody>
                    <a:bodyPr/>
                    <a:lstStyle/>
                    <a:p>
                      <a:pPr algn="l">
                        <a:spcBef>
                          <a:spcPts val="0"/>
                        </a:spcBef>
                        <a:spcAft>
                          <a:spcPts val="0"/>
                        </a:spcAft>
                        <a:buNone/>
                      </a:pPr>
                      <a:r>
                        <a:rPr lang="en-US" sz="1200" b="0" i="0" dirty="0">
                          <a:solidFill>
                            <a:srgbClr val="17173A"/>
                          </a:solidFill>
                          <a:latin typeface="Poppins"/>
                          <a:ea typeface="Poppins"/>
                          <a:cs typeface="Poppins"/>
                        </a:rPr>
                        <a:t>Ridge</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99.73</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2.6</a:t>
                      </a:r>
                    </a:p>
                  </a:txBody>
                  <a:tcPr marL="45720" marR="45720" marT="27432" marB="27432" anchor="ctr">
                    <a:lnL w="0">
                      <a:noFill/>
                    </a:lnL>
                    <a:lnR w="0">
                      <a:noFill/>
                    </a:lnR>
                    <a:lnT w="0">
                      <a:noFill/>
                    </a:lnT>
                    <a:lnB w="6350">
                      <a:solidFill>
                        <a:srgbClr val="9A86E6"/>
                      </a:solidFill>
                    </a:lnB>
                    <a:noFill/>
                  </a:tcPr>
                </a:tc>
              </a:tr>
              <a:tr h="201168">
                <a:tc>
                  <a:txBody>
                    <a:bodyPr/>
                    <a:lstStyle/>
                    <a:p>
                      <a:pPr algn="l">
                        <a:spcBef>
                          <a:spcPts val="0"/>
                        </a:spcBef>
                        <a:spcAft>
                          <a:spcPts val="0"/>
                        </a:spcAft>
                        <a:buNone/>
                      </a:pPr>
                      <a:r>
                        <a:rPr lang="en-US" sz="1200" b="0" i="0" dirty="0">
                          <a:solidFill>
                            <a:srgbClr val="17173A"/>
                          </a:solidFill>
                          <a:latin typeface="Poppins"/>
                          <a:ea typeface="Poppins"/>
                          <a:cs typeface="Poppins"/>
                        </a:rPr>
                        <a:t>Linear SVM</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99.81</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1.5</a:t>
                      </a:r>
                    </a:p>
                  </a:txBody>
                  <a:tcPr marL="45720" marR="45720" marT="27432" marB="27432" anchor="ctr">
                    <a:lnL w="0">
                      <a:noFill/>
                    </a:lnL>
                    <a:lnR w="0">
                      <a:noFill/>
                    </a:lnR>
                    <a:lnT w="0">
                      <a:noFill/>
                    </a:lnT>
                    <a:lnB w="6350">
                      <a:solidFill>
                        <a:srgbClr val="9A86E6"/>
                      </a:solidFill>
                    </a:lnB>
                    <a:noFill/>
                  </a:tcPr>
                </a:tc>
              </a:tr>
              <a:tr h="201168">
                <a:tc>
                  <a:txBody>
                    <a:bodyPr/>
                    <a:lstStyle/>
                    <a:p>
                      <a:pPr algn="l">
                        <a:spcBef>
                          <a:spcPts val="0"/>
                        </a:spcBef>
                        <a:spcAft>
                          <a:spcPts val="0"/>
                        </a:spcAft>
                        <a:buNone/>
                      </a:pPr>
                      <a:r>
                        <a:rPr lang="en-US" sz="1200" b="0" i="0" dirty="0">
                          <a:solidFill>
                            <a:srgbClr val="17173A"/>
                          </a:solidFill>
                          <a:latin typeface="Poppins"/>
                          <a:ea typeface="Poppins"/>
                          <a:cs typeface="Poppins"/>
                        </a:rPr>
                        <a:t>Naive Bayes</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98.90</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8.2</a:t>
                      </a:r>
                    </a:p>
                  </a:txBody>
                  <a:tcPr marL="45720" marR="45720" marT="27432" marB="27432" anchor="ctr">
                    <a:lnL w="0">
                      <a:noFill/>
                    </a:lnL>
                    <a:lnR w="0">
                      <a:noFill/>
                    </a:lnR>
                    <a:lnT w="0">
                      <a:noFill/>
                    </a:lnT>
                    <a:lnB w="6350">
                      <a:solidFill>
                        <a:srgbClr val="9A86E6"/>
                      </a:solidFill>
                    </a:lnB>
                    <a:noFill/>
                  </a:tcPr>
                </a:tc>
              </a:tr>
              <a:tr h="201168">
                <a:tc>
                  <a:txBody>
                    <a:bodyPr/>
                    <a:lstStyle/>
                    <a:p>
                      <a:pPr algn="l">
                        <a:spcBef>
                          <a:spcPts val="0"/>
                        </a:spcBef>
                        <a:spcAft>
                          <a:spcPts val="0"/>
                        </a:spcAft>
                        <a:buNone/>
                      </a:pPr>
                      <a:r>
                        <a:rPr lang="en-US" sz="1200" b="0" i="0" dirty="0">
                          <a:solidFill>
                            <a:srgbClr val="17173A"/>
                          </a:solidFill>
                          <a:latin typeface="Poppins"/>
                          <a:ea typeface="Poppins"/>
                          <a:cs typeface="Poppins"/>
                        </a:rPr>
                        <a:t>Random forest</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99.53</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3.6</a:t>
                      </a:r>
                    </a:p>
                  </a:txBody>
                  <a:tcPr marL="45720" marR="45720" marT="27432" marB="27432" anchor="ctr">
                    <a:lnL w="0">
                      <a:noFill/>
                    </a:lnL>
                    <a:lnR w="0">
                      <a:noFill/>
                    </a:lnR>
                    <a:lnT w="0">
                      <a:noFill/>
                    </a:lnT>
                    <a:lnB w="6350">
                      <a:solidFill>
                        <a:srgbClr val="9A86E6"/>
                      </a:solidFill>
                    </a:lnB>
                    <a:noFill/>
                  </a:tcPr>
                </a:tc>
              </a:tr>
              <a:tr h="201168">
                <a:tc>
                  <a:txBody>
                    <a:bodyPr/>
                    <a:lstStyle/>
                    <a:p>
                      <a:pPr algn="l">
                        <a:spcBef>
                          <a:spcPts val="0"/>
                        </a:spcBef>
                        <a:spcAft>
                          <a:spcPts val="0"/>
                        </a:spcAft>
                        <a:buNone/>
                      </a:pPr>
                      <a:r>
                        <a:rPr lang="en-US" sz="1200" b="0" i="0" dirty="0">
                          <a:solidFill>
                            <a:srgbClr val="17173A"/>
                          </a:solidFill>
                          <a:latin typeface="Poppins"/>
                          <a:ea typeface="Poppins"/>
                          <a:cs typeface="Poppins"/>
                        </a:rPr>
                        <a:t>LightGBM</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99.40</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4.5</a:t>
                      </a:r>
                    </a:p>
                  </a:txBody>
                  <a:tcPr marL="45720" marR="45720" marT="27432" marB="27432" anchor="ctr">
                    <a:lnL w="0">
                      <a:noFill/>
                    </a:lnL>
                    <a:lnR w="0">
                      <a:noFill/>
                    </a:lnR>
                    <a:lnT w="0">
                      <a:noFill/>
                    </a:lnT>
                    <a:lnB w="6350">
                      <a:solidFill>
                        <a:srgbClr val="9A86E6"/>
                      </a:solidFill>
                    </a:lnB>
                    <a:noFill/>
                  </a:tcPr>
                </a:tc>
              </a:tr>
              <a:tr h="201168">
                <a:tc>
                  <a:txBody>
                    <a:bodyPr/>
                    <a:lstStyle/>
                    <a:p>
                      <a:pPr algn="l">
                        <a:spcBef>
                          <a:spcPts val="0"/>
                        </a:spcBef>
                        <a:spcAft>
                          <a:spcPts val="0"/>
                        </a:spcAft>
                        <a:buNone/>
                      </a:pPr>
                      <a:r>
                        <a:rPr lang="en-US" sz="1200" b="0" i="0" dirty="0">
                          <a:solidFill>
                            <a:srgbClr val="17173A"/>
                          </a:solidFill>
                          <a:latin typeface="Poppins"/>
                          <a:ea typeface="Poppins"/>
                          <a:cs typeface="Poppins"/>
                        </a:rPr>
                        <a:t>MLP (64)</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99.44</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4.3</a:t>
                      </a:r>
                    </a:p>
                  </a:txBody>
                  <a:tcPr marL="45720" marR="45720" marT="27432" marB="27432" anchor="ctr">
                    <a:lnL w="0">
                      <a:noFill/>
                    </a:lnL>
                    <a:lnR w="0">
                      <a:noFill/>
                    </a:lnR>
                    <a:lnT w="0">
                      <a:noFill/>
                    </a:lnT>
                    <a:lnB w="6350">
                      <a:solidFill>
                        <a:srgbClr val="9A86E6"/>
                      </a:solidFill>
                    </a:lnB>
                    <a:noFill/>
                  </a:tcPr>
                </a:tc>
              </a:tr>
            </a:tbl>
          </a:graphicData>
        </a:graphic>
      </p:graphicFrame>
      <p:pic>
        <p:nvPicPr>
          <p:cNvPr id="60"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61" name="Shape 58"/>
          <p:cNvSpPr/>
          <p:nvPr/>
        </p:nvSpPr>
        <p:spPr>
          <a:xfrm>
            <a:off x="0" y="4796028"/>
            <a:ext cx="9144000" cy="347472"/>
          </a:xfrm>
          <a:prstGeom prst="rect">
            <a:avLst/>
          </a:prstGeom>
          <a:solidFill>
            <a:srgbClr val="EDE6F8"/>
          </a:solidFill>
          <a:ln/>
        </p:spPr>
        <p:txBody>
          <a:bodyPr/>
          <a:p/>
        </p:txBody>
      </p:sp>
      <p:sp>
        <p:nvSpPr>
          <p:cNvPr id="62" name="Shape 59"/>
          <p:cNvSpPr/>
          <p:nvPr/>
        </p:nvSpPr>
        <p:spPr>
          <a:xfrm>
            <a:off x="0" y="4796028"/>
            <a:ext cx="109728" cy="347472"/>
          </a:xfrm>
          <a:prstGeom prst="rect">
            <a:avLst/>
          </a:prstGeom>
          <a:solidFill>
            <a:srgbClr val="5B2C91"/>
          </a:solidFill>
          <a:ln/>
        </p:spPr>
        <p:txBody>
          <a:bodyPr/>
          <a:p/>
        </p:txBody>
      </p:sp>
      <p:pic>
        <p:nvPicPr>
          <p:cNvPr id="63"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64" name="Text 60"/>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2</a:t>
            </a:r>
            <a:endParaRPr lang="en-US" sz="850" dirty="0"/>
          </a:p>
        </p:txBody>
      </p:sp>
      <p:sp>
        <p:nvSpPr>
          <p:cNvPr id="65" name="Text 61"/>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8 / 16</a:t>
            </a:r>
            <a:endParaRPr lang="en-US" sz="850" dirty="0"/>
          </a:p>
        </p:txBody>
      </p:sp>
      <p:sp>
        <p:nvSpPr>
          <p:cNvPr id="1307" name="Caption"/>
          <p:cNvSpPr txBox="1"/>
          <p:nvPr/>
        </p:nvSpPr>
        <p:spPr>
          <a:xfrm>
            <a:off x="4480560" y="4066762"/>
            <a:ext cx="4114800" cy="41148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4. Macro-F1 with corrected 95% CI; red: softmax regression.</a:t>
            </a:r>
          </a:p>
        </p:txBody>
      </p:sp>
      <p:sp>
        <p:nvSpPr>
          <p:cNvPr id="1308" name="Table note"/>
          <p:cNvSpPr txBox="1"/>
          <p:nvPr/>
        </p:nvSpPr>
        <p:spPr>
          <a:xfrm>
            <a:off x="411480" y="3730752"/>
            <a:ext cx="3749040" cy="77724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Mean over 50 folds, top-100 genes. Errors: misclassified samples per repeat. ROC-AUC ≥ 0.9944 for all seven.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502920"/>
            <a:ext cx="4709160" cy="105156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2800" b="0" i="0" dirty="0">
                <a:solidFill>
                  <a:srgbClr val="17173A"/>
                </a:solidFill>
                <a:latin typeface="Kanit"/>
                <a:ea typeface="Kanit"/>
                <a:cs typeface="Kanit"/>
              </a:rPr>
              <a:t>3. Results:</a:t>
            </a:r>
          </a:p>
          <a:p>
            <a:pPr algn="l">
              <a:spcBef>
                <a:spcPts val="0"/>
              </a:spcBef>
              <a:spcAft>
                <a:spcPts val="0"/>
              </a:spcAft>
              <a:buNone/>
            </a:pPr>
            <a:r>
              <a:rPr lang="en-US" sz="2800" b="0" i="0" dirty="0">
                <a:solidFill>
                  <a:srgbClr val="17173A"/>
                </a:solidFill>
                <a:latin typeface="Kanit"/>
                <a:ea typeface="Kanit"/>
                <a:cs typeface="Kanit"/>
              </a:rPr>
              <a:t>Errors and Reliability</a:t>
            </a:r>
          </a:p>
        </p:txBody>
      </p:sp>
      <p:sp>
        <p:nvSpPr>
          <p:cNvPr id="3" name="Text 1"/>
          <p:cNvSpPr/>
          <p:nvPr/>
        </p:nvSpPr>
        <p:spPr>
          <a:xfrm>
            <a:off x="548640" y="2926080"/>
            <a:ext cx="4663440" cy="34747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700" b="0" i="0" dirty="0">
                <a:solidFill>
                  <a:srgbClr val="5B2C91"/>
                </a:solidFill>
                <a:latin typeface="Kanit"/>
                <a:ea typeface="Kanit"/>
                <a:cs typeface="Kanit"/>
              </a:rPr>
              <a:t>Calibration and conformal sets</a:t>
            </a:r>
          </a:p>
        </p:txBody>
      </p:sp>
      <p:sp>
        <p:nvSpPr>
          <p:cNvPr id="4" name="Text 2"/>
          <p:cNvSpPr/>
          <p:nvPr/>
        </p:nvSpPr>
        <p:spPr>
          <a:xfrm>
            <a:off x="548640" y="3291840"/>
            <a:ext cx="4663440" cy="960120"/>
          </a:xfrm>
          <a:prstGeom prst="rect">
            <a:avLst/>
          </a:prstGeom>
          <a:noFill/>
          <a:ln/>
        </p:spPr>
        <p:txBody>
          <a:bodyPr wrap="square" lIns="68580" tIns="34290" rIns="68580" bIns="34290" rtlCol="0" anchor="t">
            <a:normAutofit/>
          </a:bodyPr>
          <a:lstStyle/>
          <a:p>
            <a:pPr marL="228600" indent="-228600" algn="l">
              <a:lnSpc>
                <a:spcPct val="95000"/>
              </a:lnSpc>
              <a:spcBef>
                <a:spcPts val="0"/>
              </a:spcBef>
              <a:spcAft>
                <a:spcPts val="800"/>
              </a:spcAft>
              <a:buClr>
                <a:srgbClr val="5B2C91"/>
              </a:buClr>
              <a:buSzPct val="150000"/>
              <a:buFont typeface="Kanit"/>
              <a:buChar char="›"/>
            </a:pPr>
            <a:r>
              <a:rPr lang="en-US" sz="1200" b="0" i="0" dirty="0">
                <a:solidFill>
                  <a:srgbClr val="17173A"/>
                </a:solidFill>
                <a:latin typeface="Poppins"/>
                <a:ea typeface="Poppins"/>
                <a:cs typeface="Poppins"/>
              </a:rPr>
              <a:t>ECE 0.47% vs 0.14% if calibrated: small, probably real.</a:t>
            </a:r>
          </a:p>
          <a:p>
            <a:pPr marL="228600" indent="-228600" algn="l">
              <a:lnSpc>
                <a:spcPct val="95000"/>
              </a:lnSpc>
              <a:spcBef>
                <a:spcPts val="0"/>
              </a:spcBef>
              <a:spcAft>
                <a:spcPts val="0"/>
              </a:spcAft>
              <a:buClr>
                <a:srgbClr val="5B2C91"/>
              </a:buClr>
              <a:buSzPct val="150000"/>
              <a:buFont typeface="Kanit"/>
              <a:buChar char="›"/>
            </a:pPr>
            <a:r>
              <a:rPr lang="en-US" sz="1200" b="0" i="0" dirty="0">
                <a:solidFill>
                  <a:srgbClr val="17173A"/>
                </a:solidFill>
                <a:latin typeface="Poppins"/>
                <a:ea typeface="Poppins"/>
                <a:cs typeface="Poppins"/>
              </a:rPr>
              <a:t>99%: accepted error 0.18% (all: 0.51%); threshold 0.26%.</a:t>
            </a:r>
          </a:p>
          <a:p>
            <a:pPr marL="228600" indent="-228600" algn="l">
              <a:lnSpc>
                <a:spcPct val="95000"/>
              </a:lnSpc>
              <a:spcBef>
                <a:spcPts val="0"/>
              </a:spcBef>
              <a:spcAft>
                <a:spcPts val="0"/>
              </a:spcAft>
              <a:buClr>
                <a:srgbClr val="5B2C91"/>
              </a:buClr>
              <a:buSzPct val="150000"/>
              <a:buFont typeface="Kanit"/>
              <a:buChar char="›"/>
            </a:pPr>
            <a:r>
              <a:rPr lang="en-US" sz="1200" b="0" i="0" dirty="0">
                <a:solidFill>
                  <a:srgbClr val="17173A"/>
                </a:solidFill>
                <a:latin typeface="Poppins"/>
                <a:ea typeface="Poppins"/>
                <a:cs typeface="Poppins"/>
              </a:rPr>
              <a:t>Hard LUAD flagged 18/30; Mondrian 99%: needs ≥ 99/class.</a:t>
            </a:r>
          </a:p>
        </p:txBody>
      </p:sp>
      <p:sp>
        <p:nvSpPr>
          <p:cNvPr id="5" name="Shape 3"/>
          <p:cNvSpPr/>
          <p:nvPr/>
        </p:nvSpPr>
        <p:spPr>
          <a:xfrm>
            <a:off x="5390388" y="546811"/>
            <a:ext cx="3231490" cy="3608222"/>
          </a:xfrm>
          <a:prstGeom prst="rect">
            <a:avLst/>
          </a:prstGeom>
          <a:solidFill>
            <a:srgbClr val="EEEAFB"/>
          </a:solidFill>
          <a:ln/>
        </p:spPr>
        <p:txBody>
          <a:bodyPr/>
          <a:p/>
        </p:txBody>
      </p:sp>
      <p:pic>
        <p:nvPicPr>
          <p:cNvPr id="1505" name="Figure 7" descr="s_conformal.png"/>
          <p:cNvPicPr>
            <a:picLocks noChangeAspect="1"/>
          </p:cNvPicPr>
          <p:nvPr/>
        </p:nvPicPr>
        <p:blipFill>
          <a:blip r:embed="rId7"/>
          <a:stretch>
            <a:fillRect/>
          </a:stretch>
        </p:blipFill>
        <p:spPr>
          <a:xfrm>
            <a:off x="5497159" y="658368"/>
            <a:ext cx="3014289" cy="2694592"/>
          </a:xfrm>
          <a:prstGeom prst="rect">
            <a:avLst/>
          </a:prstGeom>
        </p:spPr>
      </p:pic>
      <p:pic>
        <p:nvPicPr>
          <p:cNvPr id="30"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31" name="Shape 28"/>
          <p:cNvSpPr/>
          <p:nvPr/>
        </p:nvSpPr>
        <p:spPr>
          <a:xfrm>
            <a:off x="0" y="4796028"/>
            <a:ext cx="9144000" cy="347472"/>
          </a:xfrm>
          <a:prstGeom prst="rect">
            <a:avLst/>
          </a:prstGeom>
          <a:solidFill>
            <a:srgbClr val="EDE6F8"/>
          </a:solidFill>
          <a:ln/>
        </p:spPr>
        <p:txBody>
          <a:bodyPr/>
          <a:p/>
        </p:txBody>
      </p:sp>
      <p:sp>
        <p:nvSpPr>
          <p:cNvPr id="32" name="Shape 29"/>
          <p:cNvSpPr/>
          <p:nvPr/>
        </p:nvSpPr>
        <p:spPr>
          <a:xfrm>
            <a:off x="0" y="4796028"/>
            <a:ext cx="109728" cy="347472"/>
          </a:xfrm>
          <a:prstGeom prst="rect">
            <a:avLst/>
          </a:prstGeom>
          <a:solidFill>
            <a:srgbClr val="5B2C91"/>
          </a:solidFill>
          <a:ln/>
        </p:spPr>
        <p:txBody>
          <a:bodyPr/>
          <a:p/>
        </p:txBody>
      </p:sp>
      <p:pic>
        <p:nvPicPr>
          <p:cNvPr id="33"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34" name="Text 30"/>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2</a:t>
            </a:r>
            <a:endParaRPr lang="en-US" sz="850" dirty="0"/>
          </a:p>
        </p:txBody>
      </p:sp>
      <p:sp>
        <p:nvSpPr>
          <p:cNvPr id="35" name="Text 31"/>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10 / 16</a:t>
            </a:r>
            <a:endParaRPr lang="en-US" sz="850" dirty="0"/>
          </a:p>
        </p:txBody>
      </p:sp>
      <p:sp>
        <p:nvSpPr>
          <p:cNvPr id="1501" name="Sub 1"/>
          <p:cNvSpPr txBox="1"/>
          <p:nvPr/>
        </p:nvSpPr>
        <p:spPr>
          <a:xfrm>
            <a:off x="548640" y="1691640"/>
            <a:ext cx="4663440" cy="347472"/>
          </a:xfrm>
          <a:prstGeom prst="rect">
            <a:avLst/>
          </a:prstGeom>
          <a:noFill/>
        </p:spPr>
        <p:txBody>
          <a:bodyPr wrap="square" lIns="45720" tIns="27432" rIns="45720" bIns="27432" anchor="t">
            <a:normAutofit/>
          </a:bodyPr>
          <a:lstStyle/>
          <a:p>
            <a:pPr algn="l">
              <a:spcBef>
                <a:spcPts val="0"/>
              </a:spcBef>
              <a:spcAft>
                <a:spcPts val="0"/>
              </a:spcAft>
              <a:buNone/>
            </a:pPr>
            <a:r>
              <a:rPr lang="en-US" sz="1700" b="0" i="0" dirty="0">
                <a:solidFill>
                  <a:srgbClr val="5B2C91"/>
                </a:solidFill>
                <a:latin typeface="Kanit"/>
                <a:ea typeface="Kanit"/>
                <a:cs typeface="Kanit"/>
              </a:rPr>
              <a:t>Errors (softmax, 10 repeats)</a:t>
            </a:r>
          </a:p>
        </p:txBody>
      </p:sp>
      <p:sp>
        <p:nvSpPr>
          <p:cNvPr id="1502" name="Bullets 1"/>
          <p:cNvSpPr txBox="1"/>
          <p:nvPr/>
        </p:nvSpPr>
        <p:spPr>
          <a:xfrm>
            <a:off x="548640" y="2057400"/>
            <a:ext cx="4663440" cy="777240"/>
          </a:xfrm>
          <a:prstGeom prst="rect">
            <a:avLst/>
          </a:prstGeom>
          <a:noFill/>
        </p:spPr>
        <p:txBody>
          <a:bodyPr wrap="square" lIns="45720" tIns="27432" rIns="45720" bIns="27432" anchor="t">
            <a:normAutofit/>
          </a:bodyPr>
          <a:lstStyle/>
          <a:p>
            <a:pPr marL="228600" indent="-228600" algn="l">
              <a:lnSpc>
                <a:spcPct val="95000"/>
              </a:lnSpc>
              <a:spcBef>
                <a:spcPts val="0"/>
              </a:spcBef>
              <a:spcAft>
                <a:spcPts val="800"/>
              </a:spcAft>
              <a:buClr>
                <a:srgbClr val="5B2C91"/>
              </a:buClr>
              <a:buSzPct val="150000"/>
              <a:buFont typeface="Kanit"/>
              <a:buChar char="›"/>
            </a:pPr>
            <a:r>
              <a:rPr lang="en-US" sz="1200" b="0" i="0" dirty="0">
                <a:solidFill>
                  <a:srgbClr val="17173A"/>
                </a:solidFill>
                <a:latin typeface="Poppins"/>
                <a:ea typeface="Poppins"/>
                <a:cs typeface="Poppins"/>
              </a:rPr>
              <a:t>42 errors in 8,010 predictions.</a:t>
            </a:r>
          </a:p>
          <a:p>
            <a:pPr marL="228600" indent="-228600" algn="l">
              <a:lnSpc>
                <a:spcPct val="95000"/>
              </a:lnSpc>
              <a:spcBef>
                <a:spcPts val="0"/>
              </a:spcBef>
              <a:spcAft>
                <a:spcPts val="0"/>
              </a:spcAft>
              <a:buClr>
                <a:srgbClr val="5B2C91"/>
              </a:buClr>
              <a:buSzPct val="150000"/>
              <a:buFont typeface="Kanit"/>
              <a:buChar char="›"/>
            </a:pPr>
            <a:r>
              <a:rPr lang="en-US" sz="1200" b="0" i="0" dirty="0">
                <a:solidFill>
                  <a:srgbClr val="17173A"/>
                </a:solidFill>
                <a:latin typeface="Poppins"/>
                <a:ea typeface="Poppins"/>
                <a:cs typeface="Poppins"/>
              </a:rPr>
              <a:t>Most common: LUAD → BRCA (27), COAD → LUAD (8).</a:t>
            </a:r>
          </a:p>
        </p:txBody>
      </p:sp>
      <p:sp>
        <p:nvSpPr>
          <p:cNvPr id="1504" name="Caption"/>
          <p:cNvSpPr txBox="1"/>
          <p:nvPr/>
        </p:nvSpPr>
        <p:spPr>
          <a:xfrm>
            <a:off x="5532120" y="3407824"/>
            <a:ext cx="3017520" cy="45720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6. Split-conformal set types, nested in 10×5 CV.</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78485" y="502920"/>
            <a:ext cx="4434840" cy="91440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600" b="0" i="0" dirty="0">
                <a:solidFill>
                  <a:srgbClr val="17173A"/>
                </a:solidFill>
                <a:latin typeface="Kanit"/>
                <a:ea typeface="Kanit"/>
                <a:cs typeface="Kanit"/>
              </a:rPr>
              <a:t>4. Results:</a:t>
            </a:r>
          </a:p>
          <a:p>
            <a:pPr algn="l">
              <a:lnSpc>
                <a:spcPct val="90000"/>
              </a:lnSpc>
              <a:spcBef>
                <a:spcPts val="0"/>
              </a:spcBef>
              <a:spcAft>
                <a:spcPts val="0"/>
              </a:spcAft>
              <a:buNone/>
            </a:pPr>
            <a:r>
              <a:rPr lang="en-US" sz="2600" b="0" i="0" dirty="0">
                <a:solidFill>
                  <a:srgbClr val="17173A"/>
                </a:solidFill>
                <a:latin typeface="Kanit"/>
                <a:ea typeface="Kanit"/>
                <a:cs typeface="Kanit"/>
              </a:rPr>
              <a:t>Selection Stability</a:t>
            </a:r>
          </a:p>
        </p:txBody>
      </p:sp>
      <p:sp>
        <p:nvSpPr>
          <p:cNvPr id="3" name="Shape 1"/>
          <p:cNvSpPr/>
          <p:nvPr/>
        </p:nvSpPr>
        <p:spPr>
          <a:xfrm>
            <a:off x="5250485" y="0"/>
            <a:ext cx="0" cy="4596689"/>
          </a:xfrm>
          <a:prstGeom prst="line">
            <a:avLst/>
          </a:prstGeom>
          <a:noFill/>
          <a:ln w="19050">
            <a:solidFill>
              <a:srgbClr val="17173A"/>
            </a:solidFill>
            <a:prstDash val="solid"/>
          </a:ln>
        </p:spPr>
        <p:txBody>
          <a:bodyPr/>
          <a:p/>
        </p:txBody>
      </p:sp>
      <p:sp>
        <p:nvSpPr>
          <p:cNvPr id="6" name="Text 4"/>
          <p:cNvSpPr/>
          <p:nvPr/>
        </p:nvSpPr>
        <p:spPr>
          <a:xfrm>
            <a:off x="5577840" y="685800"/>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Ever</a:t>
            </a:r>
          </a:p>
        </p:txBody>
      </p:sp>
      <p:sp>
        <p:nvSpPr>
          <p:cNvPr id="7" name="Text 5"/>
          <p:cNvSpPr/>
          <p:nvPr/>
        </p:nvSpPr>
        <p:spPr>
          <a:xfrm>
            <a:off x="6675120" y="685800"/>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133 genes entered the top 100 in some fold.</a:t>
            </a:r>
          </a:p>
        </p:txBody>
      </p:sp>
      <p:sp>
        <p:nvSpPr>
          <p:cNvPr id="8" name="Text 6"/>
          <p:cNvSpPr/>
          <p:nvPr/>
        </p:nvSpPr>
        <p:spPr>
          <a:xfrm>
            <a:off x="5577840" y="1664208"/>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Always</a:t>
            </a:r>
          </a:p>
        </p:txBody>
      </p:sp>
      <p:sp>
        <p:nvSpPr>
          <p:cNvPr id="9" name="Text 7"/>
          <p:cNvSpPr/>
          <p:nvPr/>
        </p:nvSpPr>
        <p:spPr>
          <a:xfrm>
            <a:off x="6675120" y="1664208"/>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76 genes in all 50 folds; 85 in ≥ 90%.</a:t>
            </a:r>
          </a:p>
        </p:txBody>
      </p:sp>
      <p:sp>
        <p:nvSpPr>
          <p:cNvPr id="10" name="Text 8"/>
          <p:cNvSpPr/>
          <p:nvPr/>
        </p:nvSpPr>
        <p:spPr>
          <a:xfrm>
            <a:off x="5577840" y="2642616"/>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Overlap</a:t>
            </a:r>
          </a:p>
        </p:txBody>
      </p:sp>
      <p:sp>
        <p:nvSpPr>
          <p:cNvPr id="11" name="Text 9"/>
          <p:cNvSpPr/>
          <p:nvPr/>
        </p:nvSpPr>
        <p:spPr>
          <a:xfrm>
            <a:off x="6675120" y="2642616"/>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Jaccard 0.87; Nogueira Φ = 0.93.</a:t>
            </a:r>
          </a:p>
        </p:txBody>
      </p:sp>
      <p:sp>
        <p:nvSpPr>
          <p:cNvPr id="12" name="Text 10"/>
          <p:cNvSpPr/>
          <p:nvPr/>
        </p:nvSpPr>
        <p:spPr>
          <a:xfrm>
            <a:off x="5577840" y="3621024"/>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vs [8]</a:t>
            </a:r>
          </a:p>
        </p:txBody>
      </p:sp>
      <p:sp>
        <p:nvSpPr>
          <p:cNvPr id="13" name="Text 11"/>
          <p:cNvSpPr/>
          <p:nvPr/>
        </p:nvSpPr>
        <p:spPr>
          <a:xfrm>
            <a:off x="6675120" y="3621024"/>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Sirohi: RF panel, Jaccard 0.32. Stability is method-dependent.</a:t>
            </a:r>
          </a:p>
        </p:txBody>
      </p:sp>
      <p:pic>
        <p:nvPicPr>
          <p:cNvPr id="1106" name="Figure 3" descr="s_stability.png"/>
          <p:cNvPicPr>
            <a:picLocks noChangeAspect="1"/>
          </p:cNvPicPr>
          <p:nvPr/>
        </p:nvPicPr>
        <p:blipFill>
          <a:blip r:embed="rId7"/>
          <a:stretch>
            <a:fillRect/>
          </a:stretch>
        </p:blipFill>
        <p:spPr>
          <a:xfrm>
            <a:off x="182880" y="1481328"/>
            <a:ext cx="4892040" cy="2468880"/>
          </a:xfrm>
          <a:prstGeom prst="rect">
            <a:avLst/>
          </a:prstGeom>
        </p:spPr>
      </p:pic>
      <p:pic>
        <p:nvPicPr>
          <p:cNvPr id="14"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5" name="Shape 12"/>
          <p:cNvSpPr/>
          <p:nvPr/>
        </p:nvSpPr>
        <p:spPr>
          <a:xfrm>
            <a:off x="0" y="4796028"/>
            <a:ext cx="9144000" cy="347472"/>
          </a:xfrm>
          <a:prstGeom prst="rect">
            <a:avLst/>
          </a:prstGeom>
          <a:solidFill>
            <a:srgbClr val="EDE6F8"/>
          </a:solidFill>
          <a:ln/>
        </p:spPr>
        <p:txBody>
          <a:bodyPr/>
          <a:p/>
        </p:txBody>
      </p:sp>
      <p:sp>
        <p:nvSpPr>
          <p:cNvPr id="16" name="Shape 13"/>
          <p:cNvSpPr/>
          <p:nvPr/>
        </p:nvSpPr>
        <p:spPr>
          <a:xfrm>
            <a:off x="0" y="4796028"/>
            <a:ext cx="109728" cy="347472"/>
          </a:xfrm>
          <a:prstGeom prst="rect">
            <a:avLst/>
          </a:prstGeom>
          <a:solidFill>
            <a:srgbClr val="5B2C91"/>
          </a:solidFill>
          <a:ln/>
        </p:spPr>
        <p:txBody>
          <a:bodyPr/>
          <a:p/>
        </p:txBody>
      </p:sp>
      <p:pic>
        <p:nvPicPr>
          <p:cNvPr id="17"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8" name="Text 14"/>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2</a:t>
            </a:r>
            <a:endParaRPr lang="en-US" sz="850" dirty="0"/>
          </a:p>
        </p:txBody>
      </p:sp>
      <p:sp>
        <p:nvSpPr>
          <p:cNvPr id="19" name="Text 15"/>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12 / 16</a:t>
            </a:r>
            <a:endParaRPr lang="en-US" sz="850" dirty="0"/>
          </a:p>
        </p:txBody>
      </p:sp>
      <p:sp>
        <p:nvSpPr>
          <p:cNvPr id="1105" name="Caption"/>
          <p:cNvSpPr txBox="1"/>
          <p:nvPr/>
        </p:nvSpPr>
        <p:spPr>
          <a:xfrm>
            <a:off x="182880" y="4023360"/>
            <a:ext cx="4892040" cy="41148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8. How often each gene was in the top 100 across 50 training folds.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502920"/>
            <a:ext cx="6949440" cy="68580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2800" b="0" i="0" dirty="0">
                <a:solidFill>
                  <a:srgbClr val="FFFFFF"/>
                </a:solidFill>
                <a:latin typeface="Kanit"/>
                <a:ea typeface="Kanit"/>
                <a:cs typeface="Kanit"/>
              </a:rPr>
              <a:t>3. Results: Leakage Audit (softmax accuracy)</a:t>
            </a:r>
          </a:p>
        </p:txBody>
      </p:sp>
      <p:sp>
        <p:nvSpPr>
          <p:cNvPr id="4" name="Shape 2"/>
          <p:cNvSpPr/>
          <p:nvPr/>
        </p:nvSpPr>
        <p:spPr>
          <a:xfrm>
            <a:off x="0" y="1353312"/>
            <a:ext cx="9144000" cy="0"/>
          </a:xfrm>
          <a:prstGeom prst="line">
            <a:avLst/>
          </a:prstGeom>
          <a:noFill/>
          <a:ln w="19050">
            <a:solidFill>
              <a:srgbClr val="FFFFFF"/>
            </a:solidFill>
            <a:prstDash val="solid"/>
          </a:ln>
        </p:spPr>
        <p:txBody>
          <a:bodyPr/>
          <a:p/>
        </p:txBody>
      </p:sp>
      <p:graphicFrame>
        <p:nvGraphicFramePr>
          <p:cNvPr id="1590" name="Edge table"/>
          <p:cNvGraphicFramePr>
            <a:graphicFrameLocks noGrp="1"/>
          </p:cNvGraphicFramePr>
          <p:nvPr/>
        </p:nvGraphicFramePr>
        <p:xfrm>
          <a:off x="731520" y="1536192"/>
          <a:ext cx="7680960" cy="1426464"/>
        </p:xfrm>
        <a:graphic>
          <a:graphicData uri="http://schemas.openxmlformats.org/drawingml/2006/table">
            <a:tbl>
              <a:tblPr firstRow="1"/>
              <a:tblGrid>
                <a:gridCol w="2743200"/>
                <a:gridCol w="1188720"/>
                <a:gridCol w="1051560"/>
                <a:gridCol w="1188720"/>
                <a:gridCol w="1508760"/>
              </a:tblGrid>
              <a:tr h="228600">
                <a:tc>
                  <a:txBody>
                    <a:bodyPr/>
                    <a:lstStyle/>
                    <a:p>
                      <a:pPr algn="l">
                        <a:spcBef>
                          <a:spcPts val="0"/>
                        </a:spcBef>
                        <a:spcAft>
                          <a:spcPts val="0"/>
                        </a:spcAft>
                        <a:buNone/>
                      </a:pPr>
                      <a:r>
                        <a:rPr lang="en-US" sz="1200" b="1" i="0" dirty="0">
                          <a:solidFill>
                            <a:srgbClr val="FFFFFF"/>
                          </a:solidFill>
                          <a:latin typeface="Poppins"/>
                          <a:ea typeface="Poppins"/>
                          <a:cs typeface="Poppins"/>
                        </a:rPr>
                        <a:t>Labels</a:t>
                      </a:r>
                    </a:p>
                  </a:txBody>
                  <a:tcPr marL="54864" marR="54864" marT="27432" marB="27432" anchor="ctr">
                    <a:lnL w="0">
                      <a:noFill/>
                    </a:lnL>
                    <a:lnR w="0">
                      <a:noFill/>
                    </a:lnR>
                    <a:lnT w="0">
                      <a:noFill/>
                    </a:lnT>
                    <a:lnB w="6350">
                      <a:solidFill>
                        <a:srgbClr val="9A86E6"/>
                      </a:solidFill>
                    </a:lnB>
                    <a:solidFill>
                      <a:srgbClr val="5B2C91"/>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n</a:t>
                      </a:r>
                    </a:p>
                  </a:txBody>
                  <a:tcPr marL="54864" marR="54864" marT="27432" marB="27432" anchor="ctr">
                    <a:lnL w="0">
                      <a:noFill/>
                    </a:lnL>
                    <a:lnR w="0">
                      <a:noFill/>
                    </a:lnR>
                    <a:lnT w="0">
                      <a:noFill/>
                    </a:lnT>
                    <a:lnB w="6350">
                      <a:solidFill>
                        <a:srgbClr val="9A86E6"/>
                      </a:solidFill>
                    </a:lnB>
                    <a:solidFill>
                      <a:srgbClr val="5B2C91"/>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Genes k</a:t>
                      </a:r>
                    </a:p>
                  </a:txBody>
                  <a:tcPr marL="54864" marR="54864" marT="27432" marB="27432" anchor="ctr">
                    <a:lnL w="0">
                      <a:noFill/>
                    </a:lnL>
                    <a:lnR w="0">
                      <a:noFill/>
                    </a:lnR>
                    <a:lnT w="0">
                      <a:noFill/>
                    </a:lnT>
                    <a:lnB w="6350">
                      <a:solidFill>
                        <a:srgbClr val="9A86E6"/>
                      </a:solidFill>
                    </a:lnB>
                    <a:solidFill>
                      <a:srgbClr val="5B2C91"/>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Leaky</a:t>
                      </a:r>
                    </a:p>
                  </a:txBody>
                  <a:tcPr marL="54864" marR="54864" marT="27432" marB="27432" anchor="ctr">
                    <a:lnL w="0">
                      <a:noFill/>
                    </a:lnL>
                    <a:lnR w="0">
                      <a:noFill/>
                    </a:lnR>
                    <a:lnT w="0">
                      <a:noFill/>
                    </a:lnT>
                    <a:lnB w="6350">
                      <a:solidFill>
                        <a:srgbClr val="9A86E6"/>
                      </a:solidFill>
                    </a:lnB>
                    <a:solidFill>
                      <a:srgbClr val="5B2C91"/>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In-fold</a:t>
                      </a:r>
                    </a:p>
                  </a:txBody>
                  <a:tcPr marL="54864" marR="54864" marT="27432" marB="27432" anchor="ctr">
                    <a:lnL w="0">
                      <a:noFill/>
                    </a:lnL>
                    <a:lnR w="0">
                      <a:noFill/>
                    </a:lnR>
                    <a:lnT w="0">
                      <a:noFill/>
                    </a:lnT>
                    <a:lnB w="6350">
                      <a:solidFill>
                        <a:srgbClr val="9A86E6"/>
                      </a:solidFill>
                    </a:lnB>
                    <a:solidFill>
                      <a:srgbClr val="5B2C91"/>
                    </a:solidFill>
                  </a:tcPr>
                </a:tc>
              </a:tr>
              <a:tr h="228600">
                <a:tc>
                  <a:txBody>
                    <a:bodyPr/>
                    <a:lstStyle/>
                    <a:p>
                      <a:pPr algn="l">
                        <a:spcBef>
                          <a:spcPts val="0"/>
                        </a:spcBef>
                        <a:spcAft>
                          <a:spcPts val="0"/>
                        </a:spcAft>
                        <a:buNone/>
                      </a:pPr>
                      <a:r>
                        <a:rPr lang="en-US" sz="1200" b="0" i="0" dirty="0">
                          <a:solidFill>
                            <a:srgbClr val="FFFFFF"/>
                          </a:solidFill>
                          <a:latin typeface="Poppins"/>
                          <a:ea typeface="Poppins"/>
                          <a:cs typeface="Poppins"/>
                        </a:rPr>
                        <a:t>Real</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801</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100</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99.50%</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99.48%</a:t>
                      </a:r>
                    </a:p>
                  </a:txBody>
                  <a:tcPr marL="54864" marR="54864" marT="27432" marB="27432" anchor="ctr">
                    <a:lnL w="0">
                      <a:noFill/>
                    </a:lnL>
                    <a:lnR w="0">
                      <a:noFill/>
                    </a:lnR>
                    <a:lnT w="0">
                      <a:noFill/>
                    </a:lnT>
                    <a:lnB w="6350">
                      <a:solidFill>
                        <a:srgbClr val="9A86E6"/>
                      </a:solidFill>
                    </a:lnB>
                    <a:noFill/>
                  </a:tcPr>
                </a:tc>
              </a:tr>
              <a:tr h="228600">
                <a:tc>
                  <a:txBody>
                    <a:bodyPr/>
                    <a:lstStyle/>
                    <a:p>
                      <a:pPr algn="l">
                        <a:spcBef>
                          <a:spcPts val="0"/>
                        </a:spcBef>
                        <a:spcAft>
                          <a:spcPts val="0"/>
                        </a:spcAft>
                        <a:buNone/>
                      </a:pPr>
                      <a:r>
                        <a:rPr lang="en-US" sz="1200" b="0" i="0" dirty="0">
                          <a:solidFill>
                            <a:srgbClr val="FFFFFF"/>
                          </a:solidFill>
                          <a:latin typeface="Poppins"/>
                          <a:ea typeface="Poppins"/>
                          <a:cs typeface="Poppins"/>
                        </a:rPr>
                        <a:t>Real</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801</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10</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95.22%</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92.32%</a:t>
                      </a:r>
                    </a:p>
                  </a:txBody>
                  <a:tcPr marL="54864" marR="54864" marT="27432" marB="27432" anchor="ctr">
                    <a:lnL w="0">
                      <a:noFill/>
                    </a:lnL>
                    <a:lnR w="0">
                      <a:noFill/>
                    </a:lnR>
                    <a:lnT w="0">
                      <a:noFill/>
                    </a:lnT>
                    <a:lnB w="6350">
                      <a:solidFill>
                        <a:srgbClr val="9A86E6"/>
                      </a:solidFill>
                    </a:lnB>
                    <a:noFill/>
                  </a:tcPr>
                </a:tc>
              </a:tr>
              <a:tr h="228600">
                <a:tc>
                  <a:txBody>
                    <a:bodyPr/>
                    <a:lstStyle/>
                    <a:p>
                      <a:pPr algn="l">
                        <a:spcBef>
                          <a:spcPts val="0"/>
                        </a:spcBef>
                        <a:spcAft>
                          <a:spcPts val="0"/>
                        </a:spcAft>
                        <a:buNone/>
                      </a:pPr>
                      <a:r>
                        <a:rPr lang="en-US" sz="1200" b="0" i="0" dirty="0">
                          <a:solidFill>
                            <a:srgbClr val="FFFFFF"/>
                          </a:solidFill>
                          <a:latin typeface="Poppins"/>
                          <a:ea typeface="Poppins"/>
                          <a:cs typeface="Poppins"/>
                        </a:rPr>
                        <a:t>Permuted</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801</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100</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35.9%</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25.3%</a:t>
                      </a:r>
                    </a:p>
                  </a:txBody>
                  <a:tcPr marL="54864" marR="54864" marT="27432" marB="27432" anchor="ctr">
                    <a:lnL w="0">
                      <a:noFill/>
                    </a:lnL>
                    <a:lnR w="0">
                      <a:noFill/>
                    </a:lnR>
                    <a:lnT w="0">
                      <a:noFill/>
                    </a:lnT>
                    <a:lnB w="6350">
                      <a:solidFill>
                        <a:srgbClr val="9A86E6"/>
                      </a:solidFill>
                    </a:lnB>
                    <a:noFill/>
                  </a:tcPr>
                </a:tc>
              </a:tr>
              <a:tr h="228600">
                <a:tc>
                  <a:txBody>
                    <a:bodyPr/>
                    <a:lstStyle/>
                    <a:p>
                      <a:pPr algn="l">
                        <a:spcBef>
                          <a:spcPts val="0"/>
                        </a:spcBef>
                        <a:spcAft>
                          <a:spcPts val="0"/>
                        </a:spcAft>
                        <a:buNone/>
                      </a:pPr>
                      <a:r>
                        <a:rPr lang="en-US" sz="1200" b="0" i="0" dirty="0">
                          <a:solidFill>
                            <a:srgbClr val="FFFFFF"/>
                          </a:solidFill>
                          <a:latin typeface="Poppins"/>
                          <a:ea typeface="Poppins"/>
                          <a:cs typeface="Poppins"/>
                        </a:rPr>
                        <a:t>Real</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60</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100</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99.9%</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99.3%</a:t>
                      </a:r>
                    </a:p>
                  </a:txBody>
                  <a:tcPr marL="54864" marR="54864" marT="27432" marB="27432" anchor="ctr">
                    <a:lnL w="0">
                      <a:noFill/>
                    </a:lnL>
                    <a:lnR w="0">
                      <a:noFill/>
                    </a:lnR>
                    <a:lnT w="0">
                      <a:noFill/>
                    </a:lnT>
                    <a:lnB w="6350">
                      <a:solidFill>
                        <a:srgbClr val="9A86E6"/>
                      </a:solidFill>
                    </a:lnB>
                    <a:noFill/>
                  </a:tcPr>
                </a:tc>
              </a:tr>
              <a:tr h="228600">
                <a:tc>
                  <a:txBody>
                    <a:bodyPr/>
                    <a:lstStyle/>
                    <a:p>
                      <a:pPr algn="l">
                        <a:spcBef>
                          <a:spcPts val="0"/>
                        </a:spcBef>
                        <a:spcAft>
                          <a:spcPts val="0"/>
                        </a:spcAft>
                        <a:buNone/>
                      </a:pPr>
                      <a:r>
                        <a:rPr lang="en-US" sz="1200" b="0" i="0" dirty="0">
                          <a:solidFill>
                            <a:srgbClr val="FFFFFF"/>
                          </a:solidFill>
                          <a:latin typeface="Poppins"/>
                          <a:ea typeface="Poppins"/>
                          <a:cs typeface="Poppins"/>
                        </a:rPr>
                        <a:t>Permuted</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60</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100</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68.2%</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19.9%</a:t>
                      </a:r>
                    </a:p>
                  </a:txBody>
                  <a:tcPr marL="54864" marR="54864" marT="27432" marB="27432" anchor="ctr">
                    <a:lnL w="0">
                      <a:noFill/>
                    </a:lnL>
                    <a:lnR w="0">
                      <a:noFill/>
                    </a:lnR>
                    <a:lnT w="0">
                      <a:noFill/>
                    </a:lnT>
                    <a:lnB w="6350">
                      <a:solidFill>
                        <a:srgbClr val="9A86E6"/>
                      </a:solidFill>
                    </a:lnB>
                    <a:noFill/>
                  </a:tcPr>
                </a:tc>
              </a:tr>
            </a:tbl>
          </a:graphicData>
        </a:graphic>
      </p:graphicFrame>
      <p:pic>
        <p:nvPicPr>
          <p:cNvPr id="13"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4" name="Shape 11"/>
          <p:cNvSpPr/>
          <p:nvPr/>
        </p:nvSpPr>
        <p:spPr>
          <a:xfrm>
            <a:off x="0" y="4796028"/>
            <a:ext cx="9144000" cy="347472"/>
          </a:xfrm>
          <a:prstGeom prst="rect">
            <a:avLst/>
          </a:prstGeom>
          <a:solidFill>
            <a:srgbClr val="EDE6F8"/>
          </a:solidFill>
          <a:ln/>
        </p:spPr>
        <p:txBody>
          <a:bodyPr/>
          <a:p/>
        </p:txBody>
      </p:sp>
      <p:sp>
        <p:nvSpPr>
          <p:cNvPr id="15" name="Shape 12"/>
          <p:cNvSpPr/>
          <p:nvPr/>
        </p:nvSpPr>
        <p:spPr>
          <a:xfrm>
            <a:off x="0" y="4796028"/>
            <a:ext cx="109728" cy="347472"/>
          </a:xfrm>
          <a:prstGeom prst="rect">
            <a:avLst/>
          </a:prstGeom>
          <a:solidFill>
            <a:srgbClr val="5B2C91"/>
          </a:solidFill>
          <a:ln/>
        </p:spPr>
        <p:txBody>
          <a:bodyPr/>
          <a:p/>
        </p:txBody>
      </p:sp>
      <p:pic>
        <p:nvPicPr>
          <p:cNvPr id="16"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7" name="Text 13"/>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2</a:t>
            </a:r>
            <a:endParaRPr lang="en-US" sz="850" dirty="0"/>
          </a:p>
        </p:txBody>
      </p:sp>
      <p:sp>
        <p:nvSpPr>
          <p:cNvPr id="18" name="Text 14"/>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7 / 16</a:t>
            </a:r>
            <a:endParaRPr lang="en-US" sz="850" dirty="0"/>
          </a:p>
        </p:txBody>
      </p:sp>
      <p:sp>
        <p:nvSpPr>
          <p:cNvPr id="1505" name="Table note"/>
          <p:cNvSpPr txBox="1"/>
          <p:nvPr/>
        </p:nvSpPr>
        <p:spPr>
          <a:xfrm>
            <a:off x="731520" y="3474720"/>
            <a:ext cx="7680960" cy="45720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D9D2F3"/>
                </a:solidFill>
                <a:latin typeface="Poppins"/>
                <a:ea typeface="Poppins"/>
                <a:cs typeface="Poppins"/>
              </a:rPr>
              <a:t>Leaky: gene filter, ANOVA selection and scaling fitted on all samples before CV. Chance with permuted labels: 24% (n = 801), 20% (n = 60).</a:t>
            </a:r>
          </a:p>
        </p:txBody>
      </p:sp>
      <p:sp>
        <p:nvSpPr>
          <p:cNvPr id="1506" name="Points"/>
          <p:cNvSpPr txBox="1"/>
          <p:nvPr/>
        </p:nvSpPr>
        <p:spPr>
          <a:xfrm>
            <a:off x="731520" y="3931920"/>
            <a:ext cx="7680960" cy="777240"/>
          </a:xfrm>
          <a:prstGeom prst="rect">
            <a:avLst/>
          </a:prstGeom>
          <a:noFill/>
        </p:spPr>
        <p:txBody>
          <a:bodyPr wrap="square" lIns="45720" tIns="27432" rIns="45720" bIns="27432" anchor="t">
            <a:normAutofit/>
          </a:bodyPr>
          <a:lstStyle/>
          <a:p>
            <a:pPr marL="228600" indent="-228600" algn="l">
              <a:lnSpc>
                <a:spcPct val="95000"/>
              </a:lnSpc>
              <a:spcBef>
                <a:spcPts val="0"/>
              </a:spcBef>
              <a:spcAft>
                <a:spcPts val="600"/>
              </a:spcAft>
              <a:buClr>
                <a:srgbClr val="F1D5EC"/>
              </a:buClr>
              <a:buSzPct val="150000"/>
              <a:buFont typeface="Kanit"/>
              <a:buChar char="›"/>
            </a:pPr>
            <a:r>
              <a:rPr lang="en-US" sz="1200" b="0" i="0" dirty="0">
                <a:solidFill>
                  <a:srgbClr val="FFFFFF"/>
                </a:solidFill>
                <a:latin typeface="Poppins"/>
                <a:ea typeface="Poppins"/>
                <a:cs typeface="Poppins"/>
              </a:rPr>
              <a:t>Real labels, n = 801: leakage changes accuracy ≤ 0.29 pt for k ≥ 20.</a:t>
            </a:r>
          </a:p>
          <a:p>
            <a:pPr marL="228600" indent="-228600" algn="l">
              <a:lnSpc>
                <a:spcPct val="95000"/>
              </a:lnSpc>
              <a:spcBef>
                <a:spcPts val="0"/>
              </a:spcBef>
              <a:spcAft>
                <a:spcPts val="600"/>
              </a:spcAft>
              <a:buClr>
                <a:srgbClr val="F1D5EC"/>
              </a:buClr>
              <a:buSzPct val="150000"/>
              <a:buFont typeface="Kanit"/>
              <a:buChar char="›"/>
            </a:pPr>
            <a:r>
              <a:rPr lang="en-US" sz="1200" b="0" i="0" dirty="0">
                <a:solidFill>
                  <a:srgbClr val="FFFFFF"/>
                </a:solidFill>
                <a:latin typeface="Poppins"/>
                <a:ea typeface="Poppins"/>
                <a:cs typeface="Poppins"/>
              </a:rPr>
              <a:t>The bias shows only on permuted labels, strongly at n = 60 [3]: it hides behind the ceiling.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0664" y="640080"/>
            <a:ext cx="4114800" cy="114300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3000" b="0" i="0" dirty="0">
                <a:solidFill>
                  <a:srgbClr val="17173A"/>
                </a:solidFill>
                <a:latin typeface="Kanit"/>
                <a:ea typeface="Kanit"/>
                <a:cs typeface="Kanit"/>
              </a:rPr>
              <a:t>5. Discussion:</a:t>
            </a:r>
          </a:p>
          <a:p>
            <a:pPr algn="l">
              <a:spcBef>
                <a:spcPts val="0"/>
              </a:spcBef>
              <a:spcAft>
                <a:spcPts val="0"/>
              </a:spcAft>
              <a:buNone/>
            </a:pPr>
            <a:r>
              <a:rPr lang="en-US" sz="3000" b="0" i="0" dirty="0">
                <a:solidFill>
                  <a:srgbClr val="17173A"/>
                </a:solidFill>
                <a:latin typeface="Kanit"/>
                <a:ea typeface="Kanit"/>
                <a:cs typeface="Kanit"/>
              </a:rPr>
              <a:t>Limitations</a:t>
            </a:r>
          </a:p>
        </p:txBody>
      </p:sp>
      <p:sp>
        <p:nvSpPr>
          <p:cNvPr id="3" name="Text 1"/>
          <p:cNvSpPr/>
          <p:nvPr/>
        </p:nvSpPr>
        <p:spPr>
          <a:xfrm>
            <a:off x="740664" y="2148840"/>
            <a:ext cx="4023360" cy="2103120"/>
          </a:xfrm>
          <a:prstGeom prst="rect">
            <a:avLst/>
          </a:prstGeom>
          <a:noFill/>
          <a:ln/>
        </p:spPr>
        <p:txBody>
          <a:bodyPr wrap="square" lIns="68580" tIns="34290" rIns="68580" bIns="34290" rtlCol="0" anchor="t">
            <a:normAutofit/>
          </a:bodyPr>
          <a:lstStyle/>
          <a:p>
            <a:pPr algn="l">
              <a:spcBef>
                <a:spcPts val="0"/>
              </a:spcBef>
              <a:spcAft>
                <a:spcPts val="400"/>
              </a:spcAft>
              <a:buNone/>
            </a:pPr>
            <a:r>
              <a:rPr lang="en-US" sz="1700" b="0" i="0" dirty="0">
                <a:solidFill>
                  <a:srgbClr val="5B2C91"/>
                </a:solidFill>
                <a:latin typeface="Kanit"/>
                <a:ea typeface="Kanit"/>
                <a:cs typeface="Kanit"/>
              </a:rPr>
              <a:t>What remains valid</a:t>
            </a:r>
          </a:p>
          <a:p>
            <a:pPr algn="l">
              <a:lnSpc>
                <a:spcPct val="95000"/>
              </a:lnSpc>
              <a:spcBef>
                <a:spcPts val="0"/>
              </a:spcBef>
              <a:spcAft>
                <a:spcPts val="0"/>
              </a:spcAft>
              <a:buNone/>
            </a:pPr>
            <a:r>
              <a:rPr lang="en-US" sz="1400" b="0" i="1" dirty="0">
                <a:solidFill>
                  <a:srgbClr val="5B2C91"/>
                </a:solidFill>
                <a:latin typeface="Poppins"/>
                <a:ea typeface="Poppins"/>
                <a:cs typeface="Poppins"/>
              </a:rPr>
              <a:t>Leakage size, equivalence and stability on this dataset, within TCGA, five tissues.</a:t>
            </a:r>
          </a:p>
        </p:txBody>
      </p:sp>
      <p:sp>
        <p:nvSpPr>
          <p:cNvPr id="4" name="Shape 2"/>
          <p:cNvSpPr/>
          <p:nvPr/>
        </p:nvSpPr>
        <p:spPr>
          <a:xfrm>
            <a:off x="5010912" y="0"/>
            <a:ext cx="0" cy="4596689"/>
          </a:xfrm>
          <a:prstGeom prst="line">
            <a:avLst/>
          </a:prstGeom>
          <a:noFill/>
          <a:ln w="19050">
            <a:solidFill>
              <a:srgbClr val="17173A"/>
            </a:solidFill>
            <a:prstDash val="solid"/>
          </a:ln>
        </p:spPr>
        <p:txBody>
          <a:bodyPr/>
          <a:p/>
        </p:txBody>
      </p:sp>
      <p:sp>
        <p:nvSpPr>
          <p:cNvPr id="5" name="Shape 3"/>
          <p:cNvSpPr/>
          <p:nvPr/>
        </p:nvSpPr>
        <p:spPr>
          <a:xfrm>
            <a:off x="5010912" y="2298802"/>
            <a:ext cx="4133088" cy="0"/>
          </a:xfrm>
          <a:prstGeom prst="line">
            <a:avLst/>
          </a:prstGeom>
          <a:noFill/>
          <a:ln w="19050">
            <a:solidFill>
              <a:srgbClr val="17173A"/>
            </a:solidFill>
            <a:prstDash val="solid"/>
          </a:ln>
        </p:spPr>
        <p:txBody>
          <a:bodyPr/>
          <a:p/>
        </p:txBody>
      </p:sp>
      <p:sp>
        <p:nvSpPr>
          <p:cNvPr id="6" name="Text 4"/>
          <p:cNvSpPr/>
          <p:nvPr/>
        </p:nvSpPr>
        <p:spPr>
          <a:xfrm>
            <a:off x="5486400" y="502920"/>
            <a:ext cx="3291840" cy="45720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200" b="0" i="0" dirty="0">
                <a:solidFill>
                  <a:srgbClr val="17173A"/>
                </a:solidFill>
                <a:latin typeface="Kanit"/>
                <a:ea typeface="Kanit"/>
                <a:cs typeface="Kanit"/>
              </a:rPr>
              <a:t>Data</a:t>
            </a:r>
          </a:p>
        </p:txBody>
      </p:sp>
      <p:sp>
        <p:nvSpPr>
          <p:cNvPr id="7" name="Text 5"/>
          <p:cNvSpPr/>
          <p:nvPr/>
        </p:nvSpPr>
        <p:spPr>
          <a:xfrm>
            <a:off x="5486400" y="960120"/>
            <a:ext cx="3429000" cy="1280160"/>
          </a:xfrm>
          <a:prstGeom prst="rect">
            <a:avLst/>
          </a:prstGeom>
          <a:noFill/>
          <a:ln/>
        </p:spPr>
        <p:txBody>
          <a:bodyPr wrap="square" lIns="68580" tIns="34290" rIns="68580" bIns="34290" rtlCol="0" anchor="t">
            <a:normAutofit/>
          </a:bodyPr>
          <a:lstStyle/>
          <a:p>
            <a:pPr marL="228600" indent="-228600" algn="l">
              <a:lnSpc>
                <a:spcPct val="95000"/>
              </a:lnSpc>
              <a:spcBef>
                <a:spcPts val="0"/>
              </a:spcBef>
              <a:spcAft>
                <a:spcPts val="500"/>
              </a:spcAft>
              <a:buClr>
                <a:srgbClr val="5B2C91"/>
              </a:buClr>
              <a:buSzPct val="150000"/>
              <a:buFont typeface="Kanit"/>
              <a:buChar char="›"/>
            </a:pPr>
            <a:r>
              <a:rPr lang="en-US" sz="1200" b="0" i="0" dirty="0">
                <a:solidFill>
                  <a:srgbClr val="17173A"/>
                </a:solidFill>
                <a:latin typeface="Poppins"/>
                <a:ea typeface="Poppins"/>
                <a:cs typeface="Poppins"/>
              </a:rPr>
              <a:t>n = 801, single source, five types; no metadata.</a:t>
            </a:r>
          </a:p>
          <a:p>
            <a:pPr marL="228600" indent="-228600" algn="l">
              <a:lnSpc>
                <a:spcPct val="95000"/>
              </a:lnSpc>
              <a:spcBef>
                <a:spcPts val="0"/>
              </a:spcBef>
              <a:spcAft>
                <a:spcPts val="500"/>
              </a:spcAft>
              <a:buClr>
                <a:srgbClr val="5B2C91"/>
              </a:buClr>
              <a:buSzPct val="150000"/>
              <a:buFont typeface="Kanit"/>
              <a:buChar char="›"/>
            </a:pPr>
            <a:r>
              <a:rPr lang="en-US" sz="1200" b="0" i="0" dirty="0">
                <a:solidFill>
                  <a:srgbClr val="17173A"/>
                </a:solidFill>
                <a:latin typeface="Poppins"/>
                <a:ea typeface="Poppins"/>
                <a:cs typeface="Poppins"/>
              </a:rPr>
              <a:t>Global profile statistics differ by class.</a:t>
            </a:r>
          </a:p>
        </p:txBody>
      </p:sp>
      <p:sp>
        <p:nvSpPr>
          <p:cNvPr id="8" name="Text 6"/>
          <p:cNvSpPr/>
          <p:nvPr/>
        </p:nvSpPr>
        <p:spPr>
          <a:xfrm>
            <a:off x="5486400" y="2514600"/>
            <a:ext cx="3291840" cy="45720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200" b="0" i="0" dirty="0">
                <a:solidFill>
                  <a:srgbClr val="17173A"/>
                </a:solidFill>
                <a:latin typeface="Kanit"/>
                <a:ea typeface="Kanit"/>
                <a:cs typeface="Kanit"/>
              </a:rPr>
              <a:t>Methods</a:t>
            </a:r>
          </a:p>
        </p:txBody>
      </p:sp>
      <p:sp>
        <p:nvSpPr>
          <p:cNvPr id="9" name="Text 7"/>
          <p:cNvSpPr/>
          <p:nvPr/>
        </p:nvSpPr>
        <p:spPr>
          <a:xfrm>
            <a:off x="5486400" y="2971800"/>
            <a:ext cx="3429000" cy="1645920"/>
          </a:xfrm>
          <a:prstGeom prst="rect">
            <a:avLst/>
          </a:prstGeom>
          <a:noFill/>
          <a:ln/>
        </p:spPr>
        <p:txBody>
          <a:bodyPr wrap="square" lIns="68580" tIns="34290" rIns="68580" bIns="34290" rtlCol="0" anchor="t">
            <a:normAutofit/>
          </a:bodyPr>
          <a:lstStyle/>
          <a:p>
            <a:pPr marL="228600" indent="-228600" algn="l">
              <a:lnSpc>
                <a:spcPct val="95000"/>
              </a:lnSpc>
              <a:spcBef>
                <a:spcPts val="0"/>
              </a:spcBef>
              <a:spcAft>
                <a:spcPts val="500"/>
              </a:spcAft>
              <a:buClr>
                <a:srgbClr val="5B2C91"/>
              </a:buClr>
              <a:buSzPct val="150000"/>
              <a:buFont typeface="Kanit"/>
              <a:buChar char="›"/>
            </a:pPr>
            <a:r>
              <a:rPr lang="en-US" sz="1200" b="0" i="0" dirty="0">
                <a:solidFill>
                  <a:srgbClr val="17173A"/>
                </a:solidFill>
                <a:latin typeface="Poppins"/>
                <a:ea typeface="Poppins"/>
                <a:cs typeface="Poppins"/>
              </a:rPr>
              <a:t>No external cohort or metastatic samples.</a:t>
            </a:r>
          </a:p>
          <a:p>
            <a:pPr marL="228600" indent="-228600" algn="l">
              <a:lnSpc>
                <a:spcPct val="95000"/>
              </a:lnSpc>
              <a:spcBef>
                <a:spcPts val="0"/>
              </a:spcBef>
              <a:spcAft>
                <a:spcPts val="0"/>
              </a:spcAft>
              <a:buClr>
                <a:srgbClr val="5B2C91"/>
              </a:buClr>
              <a:buSzPct val="150000"/>
              <a:buFont typeface="Kanit"/>
              <a:buChar char="›"/>
            </a:pPr>
            <a:r>
              <a:rPr lang="en-US" sz="1200" b="0" i="0" dirty="0">
                <a:solidFill>
                  <a:srgbClr val="17173A"/>
                </a:solidFill>
                <a:latin typeface="Poppins"/>
                <a:ea typeface="Poppins"/>
                <a:cs typeface="Poppins"/>
              </a:rPr>
              <a:t>Tests approximate for bounded fold scores.</a:t>
            </a:r>
          </a:p>
          <a:p>
            <a:pPr marL="228600" indent="-228600" algn="l">
              <a:lnSpc>
                <a:spcPct val="95000"/>
              </a:lnSpc>
              <a:spcBef>
                <a:spcPts val="0"/>
              </a:spcBef>
              <a:spcAft>
                <a:spcPts val="0"/>
              </a:spcAft>
              <a:buClr>
                <a:srgbClr val="5B2C91"/>
              </a:buClr>
              <a:buSzPct val="150000"/>
              <a:buFont typeface="Kanit"/>
              <a:buChar char="›"/>
            </a:pPr>
            <a:r>
              <a:rPr lang="en-US" sz="1200" b="0" i="0" dirty="0">
                <a:solidFill>
                  <a:srgbClr val="17173A"/>
                </a:solidFill>
                <a:latin typeface="Poppins"/>
                <a:ea typeface="Poppins"/>
                <a:cs typeface="Poppins"/>
              </a:rPr>
              <a:t>Audit covers selection, not SMOTE or PCA.</a:t>
            </a:r>
          </a:p>
        </p:txBody>
      </p:sp>
      <p:pic>
        <p:nvPicPr>
          <p:cNvPr id="10"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1" name="Shape 8"/>
          <p:cNvSpPr/>
          <p:nvPr/>
        </p:nvSpPr>
        <p:spPr>
          <a:xfrm>
            <a:off x="0" y="4796028"/>
            <a:ext cx="9144000" cy="347472"/>
          </a:xfrm>
          <a:prstGeom prst="rect">
            <a:avLst/>
          </a:prstGeom>
          <a:solidFill>
            <a:srgbClr val="EDE6F8"/>
          </a:solidFill>
          <a:ln/>
        </p:spPr>
        <p:txBody>
          <a:bodyPr/>
          <a:p/>
        </p:txBody>
      </p:sp>
      <p:sp>
        <p:nvSpPr>
          <p:cNvPr id="12" name="Shape 9"/>
          <p:cNvSpPr/>
          <p:nvPr/>
        </p:nvSpPr>
        <p:spPr>
          <a:xfrm>
            <a:off x="0" y="4796028"/>
            <a:ext cx="109728" cy="347472"/>
          </a:xfrm>
          <a:prstGeom prst="rect">
            <a:avLst/>
          </a:prstGeom>
          <a:solidFill>
            <a:srgbClr val="5B2C91"/>
          </a:solidFill>
          <a:ln/>
        </p:spPr>
        <p:txBody>
          <a:bodyPr/>
          <a:p/>
        </p:txBody>
      </p:sp>
      <p:pic>
        <p:nvPicPr>
          <p:cNvPr id="13"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4" name="Text 10"/>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2</a:t>
            </a:r>
            <a:endParaRPr lang="en-US" sz="850" dirty="0"/>
          </a:p>
        </p:txBody>
      </p:sp>
      <p:sp>
        <p:nvSpPr>
          <p:cNvPr id="15" name="Text 11"/>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13 / 16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31266" y="566928"/>
            <a:ext cx="7223760" cy="77724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3000" b="0" i="0" dirty="0">
                <a:solidFill>
                  <a:srgbClr val="FFFFFF"/>
                </a:solidFill>
                <a:latin typeface="Kanit"/>
                <a:ea typeface="Kanit"/>
                <a:cs typeface="Kanit"/>
              </a:rPr>
              <a:t>6. Conclusion: Takeaways and Future Work</a:t>
            </a:r>
          </a:p>
        </p:txBody>
      </p:sp>
      <p:sp>
        <p:nvSpPr>
          <p:cNvPr id="3" name="Shape 1"/>
          <p:cNvSpPr/>
          <p:nvPr/>
        </p:nvSpPr>
        <p:spPr>
          <a:xfrm>
            <a:off x="0" y="1417320"/>
            <a:ext cx="9144000" cy="0"/>
          </a:xfrm>
          <a:prstGeom prst="line">
            <a:avLst/>
          </a:prstGeom>
          <a:noFill/>
          <a:ln w="19050">
            <a:solidFill>
              <a:srgbClr val="FFFFFF"/>
            </a:solidFill>
            <a:prstDash val="solid"/>
          </a:ln>
        </p:spPr>
        <p:txBody>
          <a:bodyPr/>
          <a:p/>
        </p:txBody>
      </p:sp>
      <p:sp>
        <p:nvSpPr>
          <p:cNvPr id="4" name="Shape 2"/>
          <p:cNvSpPr/>
          <p:nvPr/>
        </p:nvSpPr>
        <p:spPr>
          <a:xfrm>
            <a:off x="4572000" y="1417320"/>
            <a:ext cx="0" cy="3172968"/>
          </a:xfrm>
          <a:prstGeom prst="line">
            <a:avLst/>
          </a:prstGeom>
          <a:noFill/>
          <a:ln w="19050">
            <a:solidFill>
              <a:srgbClr val="FFFFFF"/>
            </a:solidFill>
            <a:prstDash val="solid"/>
          </a:ln>
        </p:spPr>
        <p:txBody>
          <a:bodyPr/>
          <a:p/>
        </p:txBody>
      </p:sp>
      <p:sp>
        <p:nvSpPr>
          <p:cNvPr id="5" name="Text 3"/>
          <p:cNvSpPr/>
          <p:nvPr/>
        </p:nvSpPr>
        <p:spPr>
          <a:xfrm>
            <a:off x="521208" y="1572768"/>
            <a:ext cx="3840480" cy="41148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100" b="0" i="0" dirty="0">
                <a:solidFill>
                  <a:srgbClr val="F1D5EC"/>
                </a:solidFill>
                <a:latin typeface="Kanit"/>
                <a:ea typeface="Kanit"/>
                <a:cs typeface="Kanit"/>
              </a:rPr>
              <a:t>Takeaways</a:t>
            </a:r>
          </a:p>
        </p:txBody>
      </p:sp>
      <p:sp>
        <p:nvSpPr>
          <p:cNvPr id="6" name="Shape 4"/>
          <p:cNvSpPr/>
          <p:nvPr/>
        </p:nvSpPr>
        <p:spPr>
          <a:xfrm>
            <a:off x="576072" y="2212848"/>
            <a:ext cx="166421" cy="166421"/>
          </a:xfrm>
          <a:prstGeom prst="ellipse">
            <a:avLst/>
          </a:prstGeom>
          <a:ln w="18471">
            <a:solidFill>
              <a:srgbClr val="FFFFFF"/>
            </a:solidFill>
            <a:prstDash val="solid"/>
          </a:ln>
        </p:spPr>
        <p:txBody>
          <a:bodyPr/>
          <a:p/>
        </p:txBody>
      </p:sp>
      <p:sp>
        <p:nvSpPr>
          <p:cNvPr id="7" name="Shape 5"/>
          <p:cNvSpPr/>
          <p:nvPr/>
        </p:nvSpPr>
        <p:spPr>
          <a:xfrm>
            <a:off x="566928" y="2203704"/>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txBody>
          <a:bodyPr/>
          <a:p/>
        </p:txBody>
      </p:sp>
      <p:sp>
        <p:nvSpPr>
          <p:cNvPr id="8" name="Text 6"/>
          <p:cNvSpPr/>
          <p:nvPr/>
        </p:nvSpPr>
        <p:spPr>
          <a:xfrm>
            <a:off x="822960" y="2121408"/>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At n = 801, leaky selection barely changes accuracy.</a:t>
            </a:r>
          </a:p>
        </p:txBody>
      </p:sp>
      <p:sp>
        <p:nvSpPr>
          <p:cNvPr id="9" name="Shape 7"/>
          <p:cNvSpPr/>
          <p:nvPr/>
        </p:nvSpPr>
        <p:spPr>
          <a:xfrm>
            <a:off x="576072" y="2825496"/>
            <a:ext cx="166421" cy="166421"/>
          </a:xfrm>
          <a:prstGeom prst="ellipse">
            <a:avLst/>
          </a:prstGeom>
          <a:ln w="18471">
            <a:solidFill>
              <a:srgbClr val="FFFFFF"/>
            </a:solidFill>
            <a:prstDash val="solid"/>
          </a:ln>
        </p:spPr>
        <p:txBody>
          <a:bodyPr/>
          <a:p/>
        </p:txBody>
      </p:sp>
      <p:sp>
        <p:nvSpPr>
          <p:cNvPr id="10" name="Shape 8"/>
          <p:cNvSpPr/>
          <p:nvPr/>
        </p:nvSpPr>
        <p:spPr>
          <a:xfrm>
            <a:off x="566928" y="2816352"/>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txBody>
          <a:bodyPr/>
          <a:p/>
        </p:txBody>
      </p:sp>
      <p:sp>
        <p:nvSpPr>
          <p:cNvPr id="11" name="Text 9"/>
          <p:cNvSpPr/>
          <p:nvPr/>
        </p:nvSpPr>
        <p:spPr>
          <a:xfrm>
            <a:off x="822960" y="2734056"/>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No model significantly better; 10/15 pairs equivalent (±1 pt).</a:t>
            </a:r>
          </a:p>
        </p:txBody>
      </p:sp>
      <p:sp>
        <p:nvSpPr>
          <p:cNvPr id="12" name="Shape 10"/>
          <p:cNvSpPr/>
          <p:nvPr/>
        </p:nvSpPr>
        <p:spPr>
          <a:xfrm>
            <a:off x="576072" y="3438144"/>
            <a:ext cx="166421" cy="166421"/>
          </a:xfrm>
          <a:prstGeom prst="ellipse">
            <a:avLst/>
          </a:prstGeom>
          <a:ln w="18471">
            <a:solidFill>
              <a:srgbClr val="FFFFFF"/>
            </a:solidFill>
            <a:prstDash val="solid"/>
          </a:ln>
        </p:spPr>
        <p:txBody>
          <a:bodyPr/>
          <a:p/>
        </p:txBody>
      </p:sp>
      <p:sp>
        <p:nvSpPr>
          <p:cNvPr id="1701" name="Shape 10 copy"/>
          <p:cNvSpPr/>
          <p:nvPr/>
        </p:nvSpPr>
        <p:spPr>
          <a:xfrm>
            <a:off x="576072" y="4050792"/>
            <a:ext cx="166421" cy="166421"/>
          </a:xfrm>
          <a:prstGeom prst="ellipse">
            <a:avLst/>
          </a:prstGeom>
          <a:ln w="18471">
            <a:solidFill>
              <a:srgbClr val="FFFFFF"/>
            </a:solidFill>
            <a:prstDash val="solid"/>
          </a:ln>
        </p:spPr>
        <p:txBody>
          <a:bodyPr/>
          <a:p/>
        </p:txBody>
      </p:sp>
      <p:sp>
        <p:nvSpPr>
          <p:cNvPr id="13" name="Shape 11"/>
          <p:cNvSpPr/>
          <p:nvPr/>
        </p:nvSpPr>
        <p:spPr>
          <a:xfrm>
            <a:off x="566928" y="3429000"/>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txBody>
          <a:bodyPr/>
          <a:p/>
        </p:txBody>
      </p:sp>
      <p:sp>
        <p:nvSpPr>
          <p:cNvPr id="1702" name="Shape 11 copy"/>
          <p:cNvSpPr/>
          <p:nvPr/>
        </p:nvSpPr>
        <p:spPr>
          <a:xfrm>
            <a:off x="566928" y="4041648"/>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txBody>
          <a:bodyPr/>
          <a:p/>
        </p:txBody>
      </p:sp>
      <p:sp>
        <p:nvSpPr>
          <p:cNvPr id="14" name="Text 12"/>
          <p:cNvSpPr/>
          <p:nvPr/>
        </p:nvSpPr>
        <p:spPr>
          <a:xfrm>
            <a:off x="822960" y="3346704"/>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99% conformal abstention: accepted error 0.18% (threshold-like).</a:t>
            </a:r>
          </a:p>
        </p:txBody>
      </p:sp>
      <p:sp>
        <p:nvSpPr>
          <p:cNvPr id="1703" name="Text 12 copy"/>
          <p:cNvSpPr/>
          <p:nvPr/>
        </p:nvSpPr>
        <p:spPr>
          <a:xfrm>
            <a:off x="822960" y="3959352"/>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Near-100% here proves neither a clean pipeline nor a better model.</a:t>
            </a:r>
          </a:p>
        </p:txBody>
      </p:sp>
      <p:sp>
        <p:nvSpPr>
          <p:cNvPr id="15" name="Text 13"/>
          <p:cNvSpPr/>
          <p:nvPr/>
        </p:nvSpPr>
        <p:spPr>
          <a:xfrm>
            <a:off x="4937760" y="1572768"/>
            <a:ext cx="3840480" cy="41148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100" b="0" i="0" dirty="0">
                <a:solidFill>
                  <a:srgbClr val="F1D5EC"/>
                </a:solidFill>
                <a:latin typeface="Kanit"/>
                <a:ea typeface="Kanit"/>
                <a:cs typeface="Kanit"/>
              </a:rPr>
              <a:t>Future work</a:t>
            </a:r>
          </a:p>
        </p:txBody>
      </p:sp>
      <p:sp>
        <p:nvSpPr>
          <p:cNvPr id="16" name="Shape 14"/>
          <p:cNvSpPr/>
          <p:nvPr/>
        </p:nvSpPr>
        <p:spPr>
          <a:xfrm>
            <a:off x="4992624" y="2212848"/>
            <a:ext cx="166421" cy="166421"/>
          </a:xfrm>
          <a:prstGeom prst="ellipse">
            <a:avLst/>
          </a:prstGeom>
          <a:ln w="18471">
            <a:solidFill>
              <a:srgbClr val="FFFFFF"/>
            </a:solidFill>
            <a:prstDash val="solid"/>
          </a:ln>
        </p:spPr>
        <p:txBody>
          <a:bodyPr/>
          <a:p/>
        </p:txBody>
      </p:sp>
      <p:sp>
        <p:nvSpPr>
          <p:cNvPr id="17" name="Shape 15"/>
          <p:cNvSpPr/>
          <p:nvPr/>
        </p:nvSpPr>
        <p:spPr>
          <a:xfrm>
            <a:off x="4983480" y="2203704"/>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txBody>
          <a:bodyPr/>
          <a:p/>
        </p:txBody>
      </p:sp>
      <p:sp>
        <p:nvSpPr>
          <p:cNvPr id="18" name="Text 16"/>
          <p:cNvSpPr/>
          <p:nvPr/>
        </p:nvSpPr>
        <p:spPr>
          <a:xfrm>
            <a:off x="5239512" y="2121408"/>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Map gene indices to symbols via the original annotation.</a:t>
            </a:r>
          </a:p>
        </p:txBody>
      </p:sp>
      <p:sp>
        <p:nvSpPr>
          <p:cNvPr id="19" name="Shape 17"/>
          <p:cNvSpPr/>
          <p:nvPr/>
        </p:nvSpPr>
        <p:spPr>
          <a:xfrm>
            <a:off x="4992624" y="2825496"/>
            <a:ext cx="166421" cy="166421"/>
          </a:xfrm>
          <a:prstGeom prst="ellipse">
            <a:avLst/>
          </a:prstGeom>
          <a:ln w="18471">
            <a:solidFill>
              <a:srgbClr val="FFFFFF"/>
            </a:solidFill>
            <a:prstDash val="solid"/>
          </a:ln>
        </p:spPr>
        <p:txBody>
          <a:bodyPr/>
          <a:p/>
        </p:txBody>
      </p:sp>
      <p:sp>
        <p:nvSpPr>
          <p:cNvPr id="20" name="Shape 18"/>
          <p:cNvSpPr/>
          <p:nvPr/>
        </p:nvSpPr>
        <p:spPr>
          <a:xfrm>
            <a:off x="4983480" y="2816352"/>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txBody>
          <a:bodyPr/>
          <a:p/>
        </p:txBody>
      </p:sp>
      <p:sp>
        <p:nvSpPr>
          <p:cNvPr id="21" name="Text 19"/>
          <p:cNvSpPr/>
          <p:nvPr/>
        </p:nvSpPr>
        <p:spPr>
          <a:xfrm>
            <a:off x="5239512" y="2734056"/>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External, non-TCGA validation cohorts.</a:t>
            </a:r>
          </a:p>
        </p:txBody>
      </p:sp>
      <p:sp>
        <p:nvSpPr>
          <p:cNvPr id="22" name="Shape 20"/>
          <p:cNvSpPr/>
          <p:nvPr/>
        </p:nvSpPr>
        <p:spPr>
          <a:xfrm>
            <a:off x="4992624" y="3438144"/>
            <a:ext cx="166421" cy="166421"/>
          </a:xfrm>
          <a:prstGeom prst="ellipse">
            <a:avLst/>
          </a:prstGeom>
          <a:ln w="18471">
            <a:solidFill>
              <a:srgbClr val="FFFFFF"/>
            </a:solidFill>
            <a:prstDash val="solid"/>
          </a:ln>
        </p:spPr>
        <p:txBody>
          <a:bodyPr/>
          <a:p/>
        </p:txBody>
      </p:sp>
      <p:sp>
        <p:nvSpPr>
          <p:cNvPr id="1704" name="Shape 20 copy"/>
          <p:cNvSpPr/>
          <p:nvPr/>
        </p:nvSpPr>
        <p:spPr>
          <a:xfrm>
            <a:off x="4992624" y="4050792"/>
            <a:ext cx="166421" cy="166421"/>
          </a:xfrm>
          <a:prstGeom prst="ellipse">
            <a:avLst/>
          </a:prstGeom>
          <a:ln w="18471">
            <a:solidFill>
              <a:srgbClr val="FFFFFF"/>
            </a:solidFill>
            <a:prstDash val="solid"/>
          </a:ln>
        </p:spPr>
        <p:txBody>
          <a:bodyPr/>
          <a:p/>
        </p:txBody>
      </p:sp>
      <p:sp>
        <p:nvSpPr>
          <p:cNvPr id="23" name="Shape 21"/>
          <p:cNvSpPr/>
          <p:nvPr/>
        </p:nvSpPr>
        <p:spPr>
          <a:xfrm>
            <a:off x="4983480" y="3429000"/>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txBody>
          <a:bodyPr/>
          <a:p/>
        </p:txBody>
      </p:sp>
      <p:sp>
        <p:nvSpPr>
          <p:cNvPr id="1705" name="Shape 21 copy"/>
          <p:cNvSpPr/>
          <p:nvPr/>
        </p:nvSpPr>
        <p:spPr>
          <a:xfrm>
            <a:off x="4983480" y="4041648"/>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txBody>
          <a:bodyPr/>
          <a:p/>
        </p:txBody>
      </p:sp>
      <p:sp>
        <p:nvSpPr>
          <p:cNvPr id="24" name="Text 22"/>
          <p:cNvSpPr/>
          <p:nvPr/>
        </p:nvSpPr>
        <p:spPr>
          <a:xfrm>
            <a:off x="5239512" y="3346704"/>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The full 33-type TCGA problem.</a:t>
            </a:r>
          </a:p>
        </p:txBody>
      </p:sp>
      <p:sp>
        <p:nvSpPr>
          <p:cNvPr id="1706" name="Text 22 copy"/>
          <p:cNvSpPr/>
          <p:nvPr/>
        </p:nvSpPr>
        <p:spPr>
          <a:xfrm>
            <a:off x="5239512" y="3959352"/>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Metastatic and unknown-primary samples.</a:t>
            </a:r>
          </a:p>
        </p:txBody>
      </p:sp>
      <p:pic>
        <p:nvPicPr>
          <p:cNvPr id="25"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26" name="Shape 23"/>
          <p:cNvSpPr/>
          <p:nvPr/>
        </p:nvSpPr>
        <p:spPr>
          <a:xfrm>
            <a:off x="0" y="4796028"/>
            <a:ext cx="9144000" cy="347472"/>
          </a:xfrm>
          <a:prstGeom prst="rect">
            <a:avLst/>
          </a:prstGeom>
          <a:solidFill>
            <a:srgbClr val="EDE6F8"/>
          </a:solidFill>
          <a:ln/>
        </p:spPr>
        <p:txBody>
          <a:bodyPr/>
          <a:p/>
        </p:txBody>
      </p:sp>
      <p:sp>
        <p:nvSpPr>
          <p:cNvPr id="27" name="Shape 24"/>
          <p:cNvSpPr/>
          <p:nvPr/>
        </p:nvSpPr>
        <p:spPr>
          <a:xfrm>
            <a:off x="0" y="4796028"/>
            <a:ext cx="109728" cy="347472"/>
          </a:xfrm>
          <a:prstGeom prst="rect">
            <a:avLst/>
          </a:prstGeom>
          <a:solidFill>
            <a:srgbClr val="5B2C91"/>
          </a:solidFill>
          <a:ln/>
        </p:spPr>
        <p:txBody>
          <a:bodyPr/>
          <a:p/>
        </p:txBody>
      </p:sp>
      <p:pic>
        <p:nvPicPr>
          <p:cNvPr id="28"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29" name="Text 25"/>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2</a:t>
            </a:r>
            <a:endParaRPr lang="en-US" sz="850" dirty="0"/>
          </a:p>
        </p:txBody>
      </p:sp>
      <p:sp>
        <p:nvSpPr>
          <p:cNvPr id="30" name="Text 26"/>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14 / 16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21208" y="602590"/>
            <a:ext cx="8100670" cy="83119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4400" b="0" i="0" dirty="0">
                <a:solidFill>
                  <a:srgbClr val="17173A"/>
                </a:solidFill>
                <a:latin typeface="Kanit"/>
                <a:ea typeface="Kanit"/>
                <a:cs typeface="Kanit"/>
              </a:rPr>
              <a:t>References</a:t>
            </a:r>
          </a:p>
        </p:txBody>
      </p:sp>
      <p:sp>
        <p:nvSpPr>
          <p:cNvPr id="3" name="Shape 1"/>
          <p:cNvSpPr/>
          <p:nvPr/>
        </p:nvSpPr>
        <p:spPr>
          <a:xfrm>
            <a:off x="0" y="1481328"/>
            <a:ext cx="9144000" cy="0"/>
          </a:xfrm>
          <a:prstGeom prst="line">
            <a:avLst/>
          </a:prstGeom>
          <a:noFill/>
          <a:ln w="19050">
            <a:solidFill>
              <a:srgbClr val="17173A"/>
            </a:solidFill>
            <a:prstDash val="solid"/>
          </a:ln>
        </p:spPr>
        <p:txBody>
          <a:bodyPr/>
          <a:p/>
        </p:txBody>
      </p:sp>
      <p:sp>
        <p:nvSpPr>
          <p:cNvPr id="5" name="Text 3"/>
          <p:cNvSpPr/>
          <p:nvPr/>
        </p:nvSpPr>
        <p:spPr>
          <a:xfrm>
            <a:off x="685800" y="1737360"/>
            <a:ext cx="3749040" cy="2834640"/>
          </a:xfrm>
          <a:prstGeom prst="rect">
            <a:avLst/>
          </a:prstGeom>
          <a:noFill/>
          <a:ln/>
        </p:spPr>
        <p:txBody>
          <a:bodyPr wrap="square" lIns="68580" tIns="34290" rIns="68580" bIns="34290" rtlCol="0" anchor="t">
            <a:normAutofit/>
          </a:bodyPr>
          <a:lstStyle/>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[1]	Fiorini S. Gene expression cancer RNA-Seq [dataset]. UCI Machine Learning Repository. 2016. doi:10.24432/C5R88H.</a:t>
            </a:r>
          </a:p>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[2]	Hoadley KA, et al. Cell-of-origin patterns dominate the molecular classification of 10,000 tumors from 33 types of cancer. Cell. 2018;173:291–304.</a:t>
            </a:r>
          </a:p>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[3]	Ambroise C, McLachlan GJ. Selection bias in gene extraction on the basis of microarray gene-expression data. PNAS. 2002;99:6562–6566.</a:t>
            </a:r>
          </a:p>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[4]	Nadeau C, Bengio Y. Inference for the generalization error. Machine Learning. 2003;52:239–281.</a:t>
            </a:r>
          </a:p>
        </p:txBody>
      </p:sp>
      <p:pic>
        <p:nvPicPr>
          <p:cNvPr id="16"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7" name="Shape 14"/>
          <p:cNvSpPr/>
          <p:nvPr/>
        </p:nvSpPr>
        <p:spPr>
          <a:xfrm>
            <a:off x="0" y="4796028"/>
            <a:ext cx="9144000" cy="347472"/>
          </a:xfrm>
          <a:prstGeom prst="rect">
            <a:avLst/>
          </a:prstGeom>
          <a:solidFill>
            <a:srgbClr val="EDE6F8"/>
          </a:solidFill>
          <a:ln/>
        </p:spPr>
        <p:txBody>
          <a:bodyPr/>
          <a:p/>
        </p:txBody>
      </p:sp>
      <p:sp>
        <p:nvSpPr>
          <p:cNvPr id="18" name="Shape 15"/>
          <p:cNvSpPr/>
          <p:nvPr/>
        </p:nvSpPr>
        <p:spPr>
          <a:xfrm>
            <a:off x="0" y="4796028"/>
            <a:ext cx="109728" cy="347472"/>
          </a:xfrm>
          <a:prstGeom prst="rect">
            <a:avLst/>
          </a:prstGeom>
          <a:solidFill>
            <a:srgbClr val="5B2C91"/>
          </a:solidFill>
          <a:ln/>
        </p:spPr>
        <p:txBody>
          <a:bodyPr/>
          <a:p/>
        </p:txBody>
      </p:sp>
      <p:pic>
        <p:nvPicPr>
          <p:cNvPr id="19"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20" name="Text 16"/>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2</a:t>
            </a:r>
            <a:endParaRPr lang="en-US" sz="850" dirty="0"/>
          </a:p>
        </p:txBody>
      </p:sp>
      <p:sp>
        <p:nvSpPr>
          <p:cNvPr id="21" name="Text 17"/>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15 / 16</a:t>
            </a:r>
            <a:endParaRPr lang="en-US" sz="850" dirty="0"/>
          </a:p>
        </p:txBody>
      </p:sp>
      <p:sp>
        <p:nvSpPr>
          <p:cNvPr id="1707" name="Refs right"/>
          <p:cNvSpPr txBox="1"/>
          <p:nvPr/>
        </p:nvSpPr>
        <p:spPr>
          <a:xfrm>
            <a:off x="4709160" y="1737360"/>
            <a:ext cx="4069080" cy="2834640"/>
          </a:xfrm>
          <a:prstGeom prst="rect">
            <a:avLst/>
          </a:prstGeom>
          <a:noFill/>
        </p:spPr>
        <p:txBody>
          <a:bodyPr wrap="square" lIns="45720" tIns="27432" rIns="45720" bIns="27432" anchor="t">
            <a:normAutofit/>
          </a:bodyPr>
          <a:lstStyle/>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[5]	Pavlidis N, Pentheroudakis G. Cancer of unknown primary site. Lancet. 2012;379:1428–1435.</a:t>
            </a:r>
          </a:p>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[6]	Kapoor S, Narayanan A. Leakage and the reproducibility crisis in machine-learning-based science. Patterns. 2023;4:100804.</a:t>
            </a:r>
          </a:p>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[7]	Nitta Y, Borders M, Ludwig SA. Analysis of gene expression cancer data set: classification of TCGA pan-cancer HiSeq data. IEEE Big Data 2021:4745–4752.</a:t>
            </a:r>
          </a:p>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[8]	Sirohi I. High classification accuracy does not guarantee a stable gene signature. NHSJS. 2026.</a:t>
            </a:r>
          </a:p>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[9]	Vabalas A, et al. Machine learning algorithm validation with a limited sample size. PLOS ONE. 2019;14:e0224365.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21208" y="502920"/>
            <a:ext cx="7132320" cy="105156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6600" b="0" i="0" dirty="0">
                <a:solidFill>
                  <a:srgbClr val="17173A"/>
                </a:solidFill>
                <a:latin typeface="Kanit"/>
                <a:ea typeface="Kanit"/>
                <a:cs typeface="Kanit"/>
              </a:rPr>
              <a:t>THANK YOU</a:t>
            </a:r>
          </a:p>
        </p:txBody>
      </p:sp>
      <p:sp>
        <p:nvSpPr>
          <p:cNvPr id="3" name="Text 1"/>
          <p:cNvSpPr/>
          <p:nvPr/>
        </p:nvSpPr>
        <p:spPr>
          <a:xfrm>
            <a:off x="548640" y="2194560"/>
            <a:ext cx="4572000" cy="54864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800" b="0" i="0" dirty="0">
                <a:solidFill>
                  <a:srgbClr val="5B2C91"/>
                </a:solidFill>
                <a:latin typeface="Kanit"/>
                <a:ea typeface="Kanit"/>
                <a:cs typeface="Kanit"/>
              </a:rPr>
              <a:t>Questions?</a:t>
            </a:r>
          </a:p>
        </p:txBody>
      </p:sp>
      <p:sp>
        <p:nvSpPr>
          <p:cNvPr id="4" name="Text 2"/>
          <p:cNvSpPr/>
          <p:nvPr/>
        </p:nvSpPr>
        <p:spPr>
          <a:xfrm>
            <a:off x="548640" y="1536192"/>
            <a:ext cx="6400800" cy="45720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000" b="0" i="0" dirty="0">
                <a:solidFill>
                  <a:srgbClr val="17173A"/>
                </a:solidFill>
                <a:latin typeface="Poppins"/>
                <a:ea typeface="Poppins"/>
                <a:cs typeface="Poppins"/>
              </a:rPr>
              <a:t>FOR YOUR ATTENTION</a:t>
            </a:r>
          </a:p>
        </p:txBody>
      </p:sp>
      <p:sp>
        <p:nvSpPr>
          <p:cNvPr id="5" name="Shape 3"/>
          <p:cNvSpPr/>
          <p:nvPr/>
        </p:nvSpPr>
        <p:spPr>
          <a:xfrm>
            <a:off x="603504" y="2084832"/>
            <a:ext cx="2157984" cy="0"/>
          </a:xfrm>
          <a:prstGeom prst="line">
            <a:avLst/>
          </a:prstGeom>
          <a:noFill/>
          <a:ln w="28575">
            <a:solidFill>
              <a:srgbClr val="17173A"/>
            </a:solidFill>
            <a:prstDash val="solid"/>
          </a:ln>
        </p:spPr>
        <p:txBody>
          <a:bodyPr/>
          <a:p/>
        </p:txBody>
      </p:sp>
      <p:pic>
        <p:nvPicPr>
          <p:cNvPr id="6"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7" name="Shape 4"/>
          <p:cNvSpPr/>
          <p:nvPr/>
        </p:nvSpPr>
        <p:spPr>
          <a:xfrm>
            <a:off x="0" y="4796028"/>
            <a:ext cx="9144000" cy="347472"/>
          </a:xfrm>
          <a:prstGeom prst="rect">
            <a:avLst/>
          </a:prstGeom>
          <a:solidFill>
            <a:srgbClr val="EDE6F8"/>
          </a:solidFill>
          <a:ln/>
        </p:spPr>
        <p:txBody>
          <a:bodyPr/>
          <a:p/>
        </p:txBody>
      </p:sp>
      <p:sp>
        <p:nvSpPr>
          <p:cNvPr id="8" name="Shape 5"/>
          <p:cNvSpPr/>
          <p:nvPr/>
        </p:nvSpPr>
        <p:spPr>
          <a:xfrm>
            <a:off x="0" y="4796028"/>
            <a:ext cx="109728" cy="347472"/>
          </a:xfrm>
          <a:prstGeom prst="rect">
            <a:avLst/>
          </a:prstGeom>
          <a:solidFill>
            <a:srgbClr val="5B2C91"/>
          </a:solidFill>
          <a:ln/>
        </p:spPr>
        <p:txBody>
          <a:bodyPr/>
          <a:p/>
        </p:txBody>
      </p:sp>
      <p:pic>
        <p:nvPicPr>
          <p:cNvPr id="9"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0" name="Text 6"/>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2</a:t>
            </a:r>
            <a:endParaRPr lang="en-US" sz="850" dirty="0"/>
          </a:p>
        </p:txBody>
      </p:sp>
      <p:sp>
        <p:nvSpPr>
          <p:cNvPr id="11" name="Text 7"/>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16 / 16</a:t>
            </a:r>
            <a:endParaRPr lang="en-US" sz="850" dirty="0"/>
          </a:p>
        </p:txBody>
      </p:sp>
      <p:sp>
        <p:nvSpPr>
          <p:cNvPr id="1708" name="Contact"/>
          <p:cNvSpPr txBox="1"/>
          <p:nvPr/>
        </p:nvSpPr>
        <p:spPr>
          <a:xfrm>
            <a:off x="548640" y="2880360"/>
            <a:ext cx="8046720" cy="1691640"/>
          </a:xfrm>
          <a:prstGeom prst="rect">
            <a:avLst/>
          </a:prstGeom>
          <a:noFill/>
        </p:spPr>
        <p:txBody>
          <a:bodyPr wrap="square" lIns="45720" tIns="27432" rIns="45720" bIns="27432" anchor="t">
            <a:normAutofit/>
          </a:bodyPr>
          <a:lstStyle/>
          <a:p>
            <a:pPr algn="l">
              <a:spcBef>
                <a:spcPts val="0"/>
              </a:spcBef>
              <a:spcAft>
                <a:spcPts val="300"/>
              </a:spcAft>
              <a:buNone/>
            </a:pPr>
            <a:r>
              <a:rPr lang="en-US" sz="1600" b="1" i="0" dirty="0">
                <a:solidFill>
                  <a:srgbClr val="2A2C86"/>
                </a:solidFill>
                <a:latin typeface="Kanit"/>
                <a:ea typeface="Kanit"/>
                <a:cs typeface="Kanit"/>
              </a:rPr>
              <a:t>Er. Rishabh Aryan</a:t>
            </a:r>
          </a:p>
          <a:p>
            <a:pPr algn="l">
              <a:spcBef>
                <a:spcPts val="0"/>
              </a:spcBef>
              <a:spcAft>
                <a:spcPts val="100"/>
              </a:spcAft>
              <a:buNone/>
            </a:pPr>
            <a:r>
              <a:rPr lang="en-US" sz="1200" b="0" i="0" dirty="0">
                <a:solidFill>
                  <a:srgbClr val="17173A"/>
                </a:solidFill>
                <a:latin typeface="Poppins"/>
                <a:ea typeface="Poppins"/>
                <a:cs typeface="Poppins"/>
              </a:rPr>
              <a:t>M.Tech (Artificial Intelligence and Data Science), Department of Computer Science and Engineering</a:t>
            </a:r>
          </a:p>
          <a:p>
            <a:pPr algn="l">
              <a:spcBef>
                <a:spcPts val="0"/>
              </a:spcBef>
              <a:spcAft>
                <a:spcPts val="100"/>
              </a:spcAft>
              <a:buNone/>
            </a:pPr>
            <a:r>
              <a:rPr lang="en-US" sz="1200" b="0" i="0" dirty="0">
                <a:solidFill>
                  <a:srgbClr val="17173A"/>
                </a:solidFill>
                <a:latin typeface="Poppins"/>
                <a:ea typeface="Poppins"/>
                <a:cs typeface="Poppins"/>
              </a:rPr>
              <a:t>Indian Institute of Information Technology, Bhagalpur (Bihar)</a:t>
            </a:r>
          </a:p>
          <a:p>
            <a:pPr algn="l">
              <a:spcBef>
                <a:spcPts val="0"/>
              </a:spcBef>
              <a:spcAft>
                <a:spcPts val="100"/>
              </a:spcAft>
              <a:buNone/>
            </a:pPr>
            <a:r>
              <a:rPr lang="en-US" sz="1200" b="0" i="0" dirty="0">
                <a:solidFill>
                  <a:srgbClr val="17173A"/>
                </a:solidFill>
                <a:latin typeface="Poppins"/>
                <a:ea typeface="Poppins"/>
                <a:cs typeface="Poppins"/>
              </a:rPr>
              <a:t>E-mail: rishabh.250201011@iiitbh.ac.in</a:t>
            </a:r>
          </a:p>
          <a:p>
            <a:pPr algn="l">
              <a:spcBef>
                <a:spcPts val="0"/>
              </a:spcBef>
              <a:spcAft>
                <a:spcPts val="0"/>
              </a:spcAft>
              <a:buNone/>
            </a:pPr>
            <a:r>
              <a:rPr lang="en-US" sz="1200" b="0" i="0" dirty="0">
                <a:solidFill>
                  <a:srgbClr val="17173A"/>
                </a:solidFill>
                <a:latin typeface="Poppins"/>
                <a:ea typeface="Poppins"/>
                <a:cs typeface="Poppins"/>
              </a:rPr>
              <a:t>ORCID ID: https://orcid.org/0009-0004-7595-9440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Kani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Near-Perfect Accuracy Does and Does Not Show: Leakage, Equivalence, Conformal Reliability and Data Efficiency</dc:title>
  <dc:subject>PptxGenJS Presentation</dc:subject>
  <dc:creator/>
  <cp:lastModifiedBy>PptxGenJS</cp:lastModifiedBy>
  <cp:revision>1</cp:revision>
  <dcterms:created xsi:type="dcterms:W3CDTF">2026-10-08T06:48:21Z</dcterms:created>
  <dcterms:modified xsi:type="dcterms:W3CDTF">2026-10-08T06:48:21Z</dcterms:modified>
</cp:coreProperties>
</file>